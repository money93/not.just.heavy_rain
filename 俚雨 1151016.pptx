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  <p:sldId id="258" r:id="rId3"/>
    <p:sldId id="273" r:id="rId4"/>
    <p:sldId id="275" r:id="rId5"/>
    <p:sldId id="264" r:id="rId6"/>
    <p:sldId id="276" r:id="rId7"/>
    <p:sldId id="261" r:id="rId8"/>
    <p:sldId id="274" r:id="rId9"/>
    <p:sldId id="269" r:id="rId10"/>
  </p:sldIdLst>
  <p:sldSz cx="18288000" cy="10287000"/>
  <p:notesSz cx="6858000" cy="9144000"/>
  <p:embeddedFontLst>
    <p:embeddedFont>
      <p:font typeface="jf open 粉圓 2.1" panose="020B0500000000000000" pitchFamily="34" charset="-120"/>
      <p:regular r:id="rId11"/>
    </p:embeddedFont>
    <p:embeddedFont>
      <p:font typeface="Noto Sans TC" panose="020B0200000000000000" pitchFamily="34" charset="-120"/>
      <p:regular r:id="rId12"/>
      <p:bold r:id="rId13"/>
    </p:embeddedFont>
    <p:embeddedFont>
      <p:font typeface="Noto Sans TC Black" panose="020B0200000000000000" pitchFamily="34" charset="-120"/>
      <p:bold r:id="rId14"/>
    </p:embeddedFont>
    <p:embeddedFont>
      <p:font typeface="Noto Sans TC SemiBold" panose="020B0200000000000000" pitchFamily="34" charset="-120"/>
      <p:bold r:id="rId15"/>
    </p:embeddedFont>
    <p:embeddedFont>
      <p:font typeface="Agrandir Grand Heavy" panose="020205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8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42" y="1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18762FE-3397-673C-E84F-2F2D3E82DC7F}"/>
              </a:ext>
            </a:extLst>
          </p:cNvPr>
          <p:cNvSpPr>
            <a:spLocks/>
          </p:cNvSpPr>
          <p:nvPr/>
        </p:nvSpPr>
        <p:spPr>
          <a:xfrm>
            <a:off x="0" y="9207502"/>
            <a:ext cx="18288000" cy="19050"/>
          </a:xfrm>
          <a:custGeom>
            <a:avLst/>
            <a:gdLst/>
            <a:ahLst/>
            <a:cxnLst/>
            <a:rect l="l" t="t" r="r" b="b"/>
            <a:pathLst>
              <a:path w="18288000" h="19050">
                <a:moveTo>
                  <a:pt x="1028700" y="0"/>
                </a:moveTo>
                <a:lnTo>
                  <a:pt x="0" y="0"/>
                </a:lnTo>
                <a:lnTo>
                  <a:pt x="0" y="19050"/>
                </a:lnTo>
                <a:lnTo>
                  <a:pt x="1028700" y="19050"/>
                </a:lnTo>
                <a:lnTo>
                  <a:pt x="1028700" y="0"/>
                </a:lnTo>
                <a:close/>
              </a:path>
              <a:path w="18288000" h="19050">
                <a:moveTo>
                  <a:pt x="18288000" y="0"/>
                </a:moveTo>
                <a:lnTo>
                  <a:pt x="13059702" y="0"/>
                </a:lnTo>
                <a:lnTo>
                  <a:pt x="13059702" y="19050"/>
                </a:lnTo>
                <a:lnTo>
                  <a:pt x="18288000" y="1905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>
              <a:solidFill>
                <a:srgbClr val="E9480D"/>
              </a:solidFill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BF0CCC33-6331-2371-6C03-81D4DCAF8F87}"/>
              </a:ext>
            </a:extLst>
          </p:cNvPr>
          <p:cNvSpPr txBox="1"/>
          <p:nvPr/>
        </p:nvSpPr>
        <p:spPr>
          <a:xfrm>
            <a:off x="1451230" y="1943100"/>
            <a:ext cx="7464170" cy="232114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tabLst>
                <a:tab pos="0" algn="l"/>
              </a:tabLst>
              <a:defRPr sz="6000" b="0">
                <a:solidFill>
                  <a:srgbClr val="E9480D"/>
                </a:solidFill>
                <a:latin typeface="Noto Sans TC SemiBold" panose="020B0200000000000000" pitchFamily="34" charset="-120"/>
                <a:ea typeface="Noto Sans TC SemiBold" panose="020B0200000000000000" pitchFamily="34" charset="-120"/>
                <a:cs typeface="+mj-cs"/>
              </a:defRPr>
            </a:lvl1pPr>
          </a:lstStyle>
          <a:p>
            <a:r>
              <a:rPr sz="15000" dirty="0">
                <a:solidFill>
                  <a:schemeClr val="tx1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</a:rPr>
              <a:t>俚雨</a:t>
            </a:r>
          </a:p>
        </p:txBody>
      </p:sp>
      <p:sp>
        <p:nvSpPr>
          <p:cNvPr id="4" name="object 6" descr="$PPTXTitle">
            <a:extLst>
              <a:ext uri="{FF2B5EF4-FFF2-40B4-BE49-F238E27FC236}">
                <a16:creationId xmlns:a16="http://schemas.microsoft.com/office/drawing/2014/main" id="{ADDF0672-E036-48F6-5D2A-E8B2C17FEB02}"/>
              </a:ext>
            </a:extLst>
          </p:cNvPr>
          <p:cNvSpPr txBox="1">
            <a:spLocks/>
          </p:cNvSpPr>
          <p:nvPr/>
        </p:nvSpPr>
        <p:spPr>
          <a:xfrm>
            <a:off x="1776619" y="4803791"/>
            <a:ext cx="6121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zh-TW" altLang="en-US" sz="4000" dirty="0">
                <a:solidFill>
                  <a:srgbClr val="E9480D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PMingLiU"/>
              </a:rPr>
              <a:t>同一場雨，世界會怎麼說？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006E33B-82FF-B9D7-D523-E6504AE2065F}"/>
              </a:ext>
            </a:extLst>
          </p:cNvPr>
          <p:cNvSpPr txBox="1"/>
          <p:nvPr/>
        </p:nvSpPr>
        <p:spPr>
          <a:xfrm>
            <a:off x="1600200" y="9032361"/>
            <a:ext cx="1127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1121834 </a:t>
            </a:r>
            <a:r>
              <a:rPr lang="zh-TW" alt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徐曼玲　</a:t>
            </a:r>
            <a:r>
              <a:rPr lang="en-US" altLang="zh-TW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1121819 </a:t>
            </a:r>
            <a:r>
              <a:rPr lang="zh-TW" alt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游祐瑄　</a:t>
            </a:r>
            <a:r>
              <a:rPr lang="en-US" altLang="zh-TW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1121821 </a:t>
            </a:r>
            <a:r>
              <a:rPr lang="zh-TW" alt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陳品霓　</a:t>
            </a:r>
            <a:r>
              <a:rPr lang="en-US" altLang="zh-TW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1122032 </a:t>
            </a:r>
            <a:r>
              <a:rPr lang="zh-TW" alt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黃麗文　</a:t>
            </a:r>
            <a:r>
              <a:rPr lang="en-US" altLang="zh-TW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1122006 </a:t>
            </a:r>
            <a:r>
              <a:rPr lang="zh-TW" alt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jf open 粉圓 2.1" panose="020B0500000000000000" pitchFamily="34" charset="-120"/>
                <a:ea typeface="jf open 粉圓 2.1" panose="020B0500000000000000" pitchFamily="34" charset="-120"/>
              </a:rPr>
              <a:t>黃翊禎</a:t>
            </a:r>
            <a:endParaRPr lang="zh-TW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jf open 粉圓 2.1" panose="020B0500000000000000" pitchFamily="34" charset="-120"/>
              <a:ea typeface="jf open 粉圓 2.1" panose="020B05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039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方塊 25">
            <a:extLst>
              <a:ext uri="{FF2B5EF4-FFF2-40B4-BE49-F238E27FC236}">
                <a16:creationId xmlns:a16="http://schemas.microsoft.com/office/drawing/2014/main" id="{BF572519-4E89-E0F7-67F0-ACDFF5435AD9}"/>
              </a:ext>
            </a:extLst>
          </p:cNvPr>
          <p:cNvSpPr txBox="1"/>
          <p:nvPr/>
        </p:nvSpPr>
        <p:spPr>
          <a:xfrm>
            <a:off x="4572000" y="1085849"/>
            <a:ext cx="9144000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4170"/>
              </a:lnSpc>
              <a:defRPr sz="6000" b="1">
                <a:solidFill>
                  <a:srgbClr val="E9480D"/>
                </a:solidFill>
                <a:latin typeface="Agrandir Grand Heavy"/>
                <a:ea typeface="Agrandir Grand Heavy"/>
                <a:cs typeface="Agrandir Grand Heavy"/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3C0C64A3-0952-31CF-C5E1-4D04D0B62430}"/>
              </a:ext>
            </a:extLst>
          </p:cNvPr>
          <p:cNvGrpSpPr/>
          <p:nvPr/>
        </p:nvGrpSpPr>
        <p:grpSpPr>
          <a:xfrm>
            <a:off x="7315200" y="2073329"/>
            <a:ext cx="4648200" cy="646331"/>
            <a:chOff x="4267200" y="3009900"/>
            <a:chExt cx="4648200" cy="646331"/>
          </a:xfrm>
        </p:grpSpPr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7E4BA81C-9758-4A19-3200-A7FE8484002C}"/>
                </a:ext>
              </a:extLst>
            </p:cNvPr>
            <p:cNvSpPr txBox="1"/>
            <p:nvPr/>
          </p:nvSpPr>
          <p:spPr>
            <a:xfrm>
              <a:off x="5181600" y="3009900"/>
              <a:ext cx="37338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600" dirty="0"/>
                <a:t>Background</a:t>
              </a:r>
              <a:endParaRPr lang="zh-TW" alt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C30C1F6F-3BF5-5074-7591-012EA5E30C41}"/>
                </a:ext>
              </a:extLst>
            </p:cNvPr>
            <p:cNvSpPr txBox="1"/>
            <p:nvPr/>
          </p:nvSpPr>
          <p:spPr>
            <a:xfrm>
              <a:off x="4267200" y="3009900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1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EF8DD727-3D90-F387-97DE-10F7041F5E34}"/>
              </a:ext>
            </a:extLst>
          </p:cNvPr>
          <p:cNvGrpSpPr/>
          <p:nvPr/>
        </p:nvGrpSpPr>
        <p:grpSpPr>
          <a:xfrm>
            <a:off x="7315200" y="2988694"/>
            <a:ext cx="4648200" cy="630942"/>
            <a:chOff x="4267200" y="3869442"/>
            <a:chExt cx="4648200" cy="630942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DEDDE4A-EE37-C075-ECDE-CE58D764AAED}"/>
                </a:ext>
              </a:extLst>
            </p:cNvPr>
            <p:cNvSpPr txBox="1"/>
            <p:nvPr/>
          </p:nvSpPr>
          <p:spPr>
            <a:xfrm>
              <a:off x="5181600" y="3869442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俚雨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87C37B61-45C2-F769-1F83-EE4084B0778F}"/>
                </a:ext>
              </a:extLst>
            </p:cNvPr>
            <p:cNvSpPr txBox="1"/>
            <p:nvPr/>
          </p:nvSpPr>
          <p:spPr>
            <a:xfrm>
              <a:off x="4267200" y="3869442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2</a:t>
              </a: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9331B97F-9FEB-26B8-BE5C-4C6176151428}"/>
              </a:ext>
            </a:extLst>
          </p:cNvPr>
          <p:cNvGrpSpPr/>
          <p:nvPr/>
        </p:nvGrpSpPr>
        <p:grpSpPr>
          <a:xfrm>
            <a:off x="7315200" y="3904059"/>
            <a:ext cx="4648200" cy="630942"/>
            <a:chOff x="4267200" y="4728984"/>
            <a:chExt cx="4648200" cy="630942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9EA152FE-1128-3983-391A-14649B98E771}"/>
                </a:ext>
              </a:extLst>
            </p:cNvPr>
            <p:cNvSpPr txBox="1"/>
            <p:nvPr/>
          </p:nvSpPr>
          <p:spPr>
            <a:xfrm>
              <a:off x="5181600" y="4728984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WHY</a:t>
              </a:r>
              <a:endParaRPr lang="zh-TW" altLang="en-US" sz="3500" spc="-125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1234A750-77AB-15FD-B818-8379B2E6EB0E}"/>
                </a:ext>
              </a:extLst>
            </p:cNvPr>
            <p:cNvSpPr txBox="1"/>
            <p:nvPr/>
          </p:nvSpPr>
          <p:spPr>
            <a:xfrm>
              <a:off x="4267200" y="4728984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3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9A0988BA-12C3-3F01-4786-BD8918A8FE27}"/>
              </a:ext>
            </a:extLst>
          </p:cNvPr>
          <p:cNvGrpSpPr/>
          <p:nvPr/>
        </p:nvGrpSpPr>
        <p:grpSpPr>
          <a:xfrm>
            <a:off x="7315200" y="4819424"/>
            <a:ext cx="4648200" cy="630942"/>
            <a:chOff x="4267200" y="6671559"/>
            <a:chExt cx="4648200" cy="63094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4606448-7B04-94CA-69BF-F54C4E618347}"/>
                </a:ext>
              </a:extLst>
            </p:cNvPr>
            <p:cNvSpPr txBox="1"/>
            <p:nvPr/>
          </p:nvSpPr>
          <p:spPr>
            <a:xfrm>
              <a:off x="5181600" y="6671559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HOW</a:t>
              </a:r>
              <a:endParaRPr lang="zh-TW" altLang="en-US" sz="3500" spc="-125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B27C19DD-DE3D-8809-B852-5DB7581B18F4}"/>
                </a:ext>
              </a:extLst>
            </p:cNvPr>
            <p:cNvSpPr txBox="1"/>
            <p:nvPr/>
          </p:nvSpPr>
          <p:spPr>
            <a:xfrm>
              <a:off x="4267200" y="6671559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4</a:t>
              </a:r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63D735A2-EEC9-5A75-BE9C-2F6FE5A1AD4F}"/>
              </a:ext>
            </a:extLst>
          </p:cNvPr>
          <p:cNvGrpSpPr/>
          <p:nvPr/>
        </p:nvGrpSpPr>
        <p:grpSpPr>
          <a:xfrm>
            <a:off x="7315200" y="5734789"/>
            <a:ext cx="4648200" cy="630942"/>
            <a:chOff x="11201400" y="2997200"/>
            <a:chExt cx="4648200" cy="630942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D5EB04A1-02A8-82B3-92F9-06F6FBB176C5}"/>
                </a:ext>
              </a:extLst>
            </p:cNvPr>
            <p:cNvSpPr txBox="1"/>
            <p:nvPr/>
          </p:nvSpPr>
          <p:spPr>
            <a:xfrm>
              <a:off x="12115800" y="2997200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DEMO</a:t>
              </a:r>
              <a:endParaRPr lang="zh-TW" alt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1FFA8623-8E1B-687D-BD82-663B73402E48}"/>
                </a:ext>
              </a:extLst>
            </p:cNvPr>
            <p:cNvSpPr txBox="1"/>
            <p:nvPr/>
          </p:nvSpPr>
          <p:spPr>
            <a:xfrm>
              <a:off x="11201400" y="2997200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5</a:t>
              </a: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24B4441A-2E57-1223-5D15-FBE627932E9E}"/>
              </a:ext>
            </a:extLst>
          </p:cNvPr>
          <p:cNvGrpSpPr/>
          <p:nvPr/>
        </p:nvGrpSpPr>
        <p:grpSpPr>
          <a:xfrm>
            <a:off x="7315200" y="6650154"/>
            <a:ext cx="4648200" cy="630942"/>
            <a:chOff x="11201400" y="3856742"/>
            <a:chExt cx="4648200" cy="630942"/>
          </a:xfrm>
        </p:grpSpPr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42FD0C67-A739-E3B3-31F2-F868AFD1AE9C}"/>
                </a:ext>
              </a:extLst>
            </p:cNvPr>
            <p:cNvSpPr txBox="1"/>
            <p:nvPr/>
          </p:nvSpPr>
          <p:spPr>
            <a:xfrm>
              <a:off x="12115800" y="3856742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Framework</a:t>
              </a:r>
              <a:endParaRPr lang="zh-TW" altLang="en-US" sz="3500" spc="-125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F4AFE9C-C5AB-171F-39DC-AEC28252353E}"/>
                </a:ext>
              </a:extLst>
            </p:cNvPr>
            <p:cNvSpPr txBox="1"/>
            <p:nvPr/>
          </p:nvSpPr>
          <p:spPr>
            <a:xfrm>
              <a:off x="11201400" y="3856742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6</a:t>
              </a: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9A9EC517-A459-78AC-BCBB-D417724F354A}"/>
              </a:ext>
            </a:extLst>
          </p:cNvPr>
          <p:cNvGrpSpPr/>
          <p:nvPr/>
        </p:nvGrpSpPr>
        <p:grpSpPr>
          <a:xfrm>
            <a:off x="7315200" y="7565519"/>
            <a:ext cx="4648200" cy="630942"/>
            <a:chOff x="11201400" y="4716284"/>
            <a:chExt cx="4648200" cy="630942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B92BEF18-85B5-92C7-0555-F7383C351132}"/>
                </a:ext>
              </a:extLst>
            </p:cNvPr>
            <p:cNvSpPr txBox="1"/>
            <p:nvPr/>
          </p:nvSpPr>
          <p:spPr>
            <a:xfrm>
              <a:off x="12115800" y="4716284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金句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C735CE98-639A-C977-35CB-4A9A0F5E3966}"/>
                </a:ext>
              </a:extLst>
            </p:cNvPr>
            <p:cNvSpPr txBox="1"/>
            <p:nvPr/>
          </p:nvSpPr>
          <p:spPr>
            <a:xfrm>
              <a:off x="11201400" y="4716284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7</a:t>
              </a: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C4CEC359-EF0D-7BC6-84FC-6ADA0856BEF9}"/>
              </a:ext>
            </a:extLst>
          </p:cNvPr>
          <p:cNvGrpSpPr/>
          <p:nvPr/>
        </p:nvGrpSpPr>
        <p:grpSpPr>
          <a:xfrm>
            <a:off x="7315200" y="8480884"/>
            <a:ext cx="4648200" cy="630942"/>
            <a:chOff x="11201400" y="6658859"/>
            <a:chExt cx="4648200" cy="630942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1FAB41DD-1FE1-A76E-5AA6-FAEE31E3D1C6}"/>
                </a:ext>
              </a:extLst>
            </p:cNvPr>
            <p:cNvSpPr txBox="1"/>
            <p:nvPr/>
          </p:nvSpPr>
          <p:spPr>
            <a:xfrm>
              <a:off x="12115800" y="6658859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Social Media</a:t>
              </a:r>
              <a:endParaRPr lang="zh-TW" altLang="en-US" sz="3500" spc="-125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F01C3B5F-C618-B4A8-0244-C3E7228F6198}"/>
                </a:ext>
              </a:extLst>
            </p:cNvPr>
            <p:cNvSpPr txBox="1"/>
            <p:nvPr/>
          </p:nvSpPr>
          <p:spPr>
            <a:xfrm>
              <a:off x="11201400" y="6658859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8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A4C056D0-3075-BF07-65BE-90DC2FC4FC04}"/>
              </a:ext>
            </a:extLst>
          </p:cNvPr>
          <p:cNvGrpSpPr/>
          <p:nvPr/>
        </p:nvGrpSpPr>
        <p:grpSpPr>
          <a:xfrm>
            <a:off x="11582400" y="6214160"/>
            <a:ext cx="4648200" cy="630942"/>
            <a:chOff x="11201400" y="6658859"/>
            <a:chExt cx="4648200" cy="630942"/>
          </a:xfrm>
        </p:grpSpPr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6E2F1376-97FB-F2D0-41B8-C36574CDD204}"/>
                </a:ext>
              </a:extLst>
            </p:cNvPr>
            <p:cNvSpPr txBox="1"/>
            <p:nvPr/>
          </p:nvSpPr>
          <p:spPr>
            <a:xfrm>
              <a:off x="12115800" y="6658859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展場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82580802-7F31-BA6A-7310-6C3FB4040927}"/>
                </a:ext>
              </a:extLst>
            </p:cNvPr>
            <p:cNvSpPr txBox="1"/>
            <p:nvPr/>
          </p:nvSpPr>
          <p:spPr>
            <a:xfrm>
              <a:off x="11201400" y="6658859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8</a:t>
              </a: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81CAE2B3-65C7-8C1B-5A44-17528364C92A}"/>
              </a:ext>
            </a:extLst>
          </p:cNvPr>
          <p:cNvGrpSpPr/>
          <p:nvPr/>
        </p:nvGrpSpPr>
        <p:grpSpPr>
          <a:xfrm>
            <a:off x="11582400" y="7620829"/>
            <a:ext cx="4648200" cy="630942"/>
            <a:chOff x="11201400" y="6658859"/>
            <a:chExt cx="4648200" cy="630942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77B7FC7A-D39A-6D59-23E5-4110D958C655}"/>
                </a:ext>
              </a:extLst>
            </p:cNvPr>
            <p:cNvSpPr txBox="1"/>
            <p:nvPr/>
          </p:nvSpPr>
          <p:spPr>
            <a:xfrm>
              <a:off x="12115800" y="6658859"/>
              <a:ext cx="37338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zh-TW" altLang="en-US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傘設計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9C486AF-998B-FF6B-6845-242CC5B6CCC0}"/>
                </a:ext>
              </a:extLst>
            </p:cNvPr>
            <p:cNvSpPr txBox="1"/>
            <p:nvPr/>
          </p:nvSpPr>
          <p:spPr>
            <a:xfrm>
              <a:off x="11201400" y="6658859"/>
              <a:ext cx="609600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00000"/>
                </a:lnSpc>
                <a:tabLst>
                  <a:tab pos="0" algn="l"/>
                </a:tabLst>
              </a:pPr>
              <a:r>
                <a:rPr lang="en-US" altLang="zh-TW" sz="3500" spc="-125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TC Thin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5389878" y="1236328"/>
            <a:ext cx="7508243" cy="61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6000" b="1" dirty="0">
                <a:solidFill>
                  <a:srgbClr val="E9480D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Background</a:t>
            </a: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AB25FC60-B192-AA31-9E30-335DBE906320}"/>
              </a:ext>
            </a:extLst>
          </p:cNvPr>
          <p:cNvSpPr txBox="1"/>
          <p:nvPr/>
        </p:nvSpPr>
        <p:spPr>
          <a:xfrm>
            <a:off x="1016000" y="2823325"/>
            <a:ext cx="14375765" cy="39522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32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下貓</a:t>
            </a:r>
            <a:endParaRPr lang="en-US" sz="3200" dirty="0">
              <a:solidFill>
                <a:schemeClr val="tx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32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人</a:t>
            </a:r>
            <a:r>
              <a:rPr sz="3200" dirty="0" err="1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類曾</a:t>
            </a:r>
            <a:r>
              <a:rPr lang="zh-TW" altLang="en-US" sz="32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用</a:t>
            </a:r>
            <a:r>
              <a:rPr sz="3200" dirty="0" err="1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想像替</a:t>
            </a:r>
            <a:r>
              <a:rPr lang="zh-TW" altLang="en-US" sz="32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大雨</a:t>
            </a:r>
            <a:r>
              <a:rPr sz="3200" dirty="0" err="1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取名；如今，暴</a:t>
            </a:r>
            <a:r>
              <a:rPr lang="zh-TW" altLang="en-US" sz="32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與</a:t>
            </a:r>
            <a:r>
              <a:rPr sz="3200" dirty="0" err="1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正重新定義我們的世界</a:t>
            </a:r>
            <a:r>
              <a:rPr sz="32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Microsoft JhengHei"/>
              </a:rPr>
              <a:t>。</a:t>
            </a: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3200" dirty="0">
              <a:solidFill>
                <a:schemeClr val="tx1"/>
              </a:solidFill>
              <a:latin typeface="jf open 粉圓 2.1" panose="020B0500000000000000" pitchFamily="34" charset="-120"/>
              <a:ea typeface="jf open 粉圓 2.1" panose="020B0500000000000000" pitchFamily="34" charset="-120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從英國的「下貓下狗」、葡萄牙的「下小刀」，到希臘的「掉椅子腿」</a:t>
            </a: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8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——不同文化曾用天馬行空的幽默與敬畏，描繪各自天空下的暴雨。</a:t>
            </a:r>
          </a:p>
          <a:p>
            <a:pPr marL="12700" marR="5080">
              <a:lnSpc>
                <a:spcPts val="5030"/>
              </a:lnSpc>
              <a:spcBef>
                <a:spcPts val="240"/>
              </a:spcBef>
            </a:pPr>
            <a:r>
              <a:rPr sz="28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TC Thin"/>
              </a:rPr>
              <a:t>然而，隨著全球暖化打破氣候平衡，極端降雨變得猛烈且頻繁。那些曾經荒謬誇張的語言隱喻，在今日，竟逐漸失去形容災難的尺度。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D77C849-32CD-010E-177B-0E0576DDA638}"/>
              </a:ext>
            </a:extLst>
          </p:cNvPr>
          <p:cNvSpPr txBox="1"/>
          <p:nvPr/>
        </p:nvSpPr>
        <p:spPr>
          <a:xfrm>
            <a:off x="1295400" y="7679117"/>
            <a:ext cx="9144000" cy="1098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altLang="zh-TW" sz="18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</a:p>
          <a:p>
            <a:pPr marL="12700" algn="l">
              <a:lnSpc>
                <a:spcPct val="150000"/>
              </a:lnSpc>
              <a:spcBef>
                <a:spcPts val="1575"/>
              </a:spcBef>
            </a:pPr>
            <a:r>
              <a:rPr lang="zh-TW" altLang="en-US" sz="2000" dirty="0">
                <a:solidFill>
                  <a:schemeClr val="tx1"/>
                </a:solidFill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天上下貓和狗</a:t>
            </a:r>
          </a:p>
        </p:txBody>
      </p:sp>
    </p:spTree>
    <p:extLst>
      <p:ext uri="{BB962C8B-B14F-4D97-AF65-F5344CB8AC3E}">
        <p14:creationId xmlns:p14="http://schemas.microsoft.com/office/powerpoint/2010/main" val="50373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5389878" y="1236328"/>
            <a:ext cx="7508243" cy="61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6000" b="1" dirty="0">
                <a:solidFill>
                  <a:srgbClr val="E9480D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  <a:cs typeface="Agrandir Grand Heavy"/>
                <a:sym typeface="Agrandir Grand Heavy"/>
              </a:rPr>
              <a:t>WHY</a:t>
            </a:r>
          </a:p>
        </p:txBody>
      </p:sp>
      <p:pic>
        <p:nvPicPr>
          <p:cNvPr id="3" name="水淹曼谷70萬人受災 民眾涉水買物資_1080p">
            <a:hlinkClick r:id="" action="ppaction://media"/>
            <a:extLst>
              <a:ext uri="{FF2B5EF4-FFF2-40B4-BE49-F238E27FC236}">
                <a16:creationId xmlns:a16="http://schemas.microsoft.com/office/drawing/2014/main" id="{B4C53CE3-7CFF-30F9-4905-FD49E8540A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5791200" cy="1029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1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35757" y="4778595"/>
            <a:ext cx="5953043" cy="86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15000" b="1" dirty="0">
                <a:solidFill>
                  <a:srgbClr val="E9480D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  <a:cs typeface="Agrandir Grand Heavy"/>
                <a:sym typeface="Agrandir Grand Heavy"/>
              </a:rPr>
              <a:t>WHY?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1200" y="8039100"/>
            <a:ext cx="8991600" cy="1216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2799" b="1" dirty="0">
                <a:latin typeface="Noto Sans TC" panose="020B0200000000000000" pitchFamily="34" charset="-120"/>
                <a:ea typeface="Noto Sans TC" panose="020B0200000000000000" pitchFamily="34" charset="-120"/>
                <a:cs typeface="Agrandir Bold"/>
                <a:sym typeface="Agrandir Bold"/>
              </a:rPr>
              <a:t>泰國曼谷因連日大雨引發嚴重洪災，導致數十萬人受災、民眾涉水採買物資</a:t>
            </a:r>
            <a:endParaRPr lang="en-US" sz="2799" b="1" dirty="0">
              <a:latin typeface="Noto Sans TC" panose="020B0200000000000000" pitchFamily="34" charset="-120"/>
              <a:ea typeface="Noto Sans TC" panose="020B0200000000000000" pitchFamily="34" charset="-120"/>
              <a:cs typeface="Agrandir Bold"/>
              <a:sym typeface="Agrandi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34600" y="9715500"/>
            <a:ext cx="2048827" cy="240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dirty="0">
                <a:solidFill>
                  <a:srgbClr val="6161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grandir"/>
                <a:sym typeface="Agrandir"/>
              </a:rPr>
              <a:t>2026/09/28</a:t>
            </a:r>
          </a:p>
        </p:txBody>
      </p:sp>
      <p:pic>
        <p:nvPicPr>
          <p:cNvPr id="13" name="水淹曼谷70萬人受災 民眾涉水買物資_1080p">
            <a:hlinkClick r:id="" action="ppaction://media"/>
            <a:extLst>
              <a:ext uri="{FF2B5EF4-FFF2-40B4-BE49-F238E27FC236}">
                <a16:creationId xmlns:a16="http://schemas.microsoft.com/office/drawing/2014/main" id="{6A2840BE-5729-0719-7504-6C40498702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496801" y="-8465"/>
            <a:ext cx="5791200" cy="10295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1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5389878" y="1236328"/>
            <a:ext cx="7508243" cy="587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6000" b="1" dirty="0">
                <a:solidFill>
                  <a:srgbClr val="E9480D"/>
                </a:solidFill>
                <a:latin typeface="Noto Sans TC Black" panose="020B0200000000000000" pitchFamily="34" charset="-120"/>
                <a:ea typeface="Noto Sans TC Black" panose="020B0200000000000000" pitchFamily="34" charset="-120"/>
                <a:cs typeface="Agrandir Grand Heavy"/>
                <a:sym typeface="Agrandir Grand Heavy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4199203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F04CB9C5-5B51-9AD1-0F9E-CEBE53AD9A1E}"/>
              </a:ext>
            </a:extLst>
          </p:cNvPr>
          <p:cNvGrpSpPr/>
          <p:nvPr/>
        </p:nvGrpSpPr>
        <p:grpSpPr>
          <a:xfrm>
            <a:off x="1016000" y="2647207"/>
            <a:ext cx="1131712" cy="1776652"/>
            <a:chOff x="1304328" y="2640192"/>
            <a:chExt cx="1131712" cy="1776652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328" y="2640192"/>
              <a:ext cx="1131712" cy="1131708"/>
            </a:xfrm>
            <a:prstGeom prst="rect">
              <a:avLst/>
            </a:prstGeom>
          </p:spPr>
        </p:pic>
        <p:sp>
          <p:nvSpPr>
            <p:cNvPr id="14" name="object 14"/>
            <p:cNvSpPr txBox="1"/>
            <p:nvPr/>
          </p:nvSpPr>
          <p:spPr>
            <a:xfrm>
              <a:off x="1370812" y="3960914"/>
              <a:ext cx="998744" cy="4559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sz="2800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HK Thin"/>
                </a:rPr>
                <a:t>英國</a:t>
              </a:r>
            </a:p>
          </p:txBody>
        </p:sp>
      </p:grpSp>
      <p:sp>
        <p:nvSpPr>
          <p:cNvPr id="22" name="object 7">
            <a:extLst>
              <a:ext uri="{FF2B5EF4-FFF2-40B4-BE49-F238E27FC236}">
                <a16:creationId xmlns:a16="http://schemas.microsoft.com/office/drawing/2014/main" id="{4AA37C5F-A0E8-5C2C-2862-35309252D0E1}"/>
              </a:ext>
            </a:extLst>
          </p:cNvPr>
          <p:cNvSpPr txBox="1"/>
          <p:nvPr/>
        </p:nvSpPr>
        <p:spPr>
          <a:xfrm>
            <a:off x="2667000" y="2647207"/>
            <a:ext cx="5994400" cy="88511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sz="36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It’s raining cats and dogs.</a:t>
            </a:r>
          </a:p>
        </p:txBody>
      </p:sp>
      <p:pic>
        <p:nvPicPr>
          <p:cNvPr id="26" name="object 13">
            <a:extLst>
              <a:ext uri="{FF2B5EF4-FFF2-40B4-BE49-F238E27FC236}">
                <a16:creationId xmlns:a16="http://schemas.microsoft.com/office/drawing/2014/main" id="{8431448A-39A3-AF44-49D7-8AB9F204C27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2" y="4997328"/>
            <a:ext cx="1131708" cy="1131708"/>
          </a:xfrm>
          <a:prstGeom prst="rect">
            <a:avLst/>
          </a:prstGeom>
        </p:spPr>
      </p:pic>
      <p:sp>
        <p:nvSpPr>
          <p:cNvPr id="27" name="object 14">
            <a:extLst>
              <a:ext uri="{FF2B5EF4-FFF2-40B4-BE49-F238E27FC236}">
                <a16:creationId xmlns:a16="http://schemas.microsoft.com/office/drawing/2014/main" id="{04112D2A-ABCD-13BC-2520-B62BEB33DB1E}"/>
              </a:ext>
            </a:extLst>
          </p:cNvPr>
          <p:cNvSpPr txBox="1"/>
          <p:nvPr/>
        </p:nvSpPr>
        <p:spPr>
          <a:xfrm>
            <a:off x="1082484" y="6318050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法國</a:t>
            </a: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F96FB508-2CCC-0C6E-C0E4-DA52E9449FA8}"/>
              </a:ext>
            </a:extLst>
          </p:cNvPr>
          <p:cNvSpPr txBox="1"/>
          <p:nvPr/>
        </p:nvSpPr>
        <p:spPr>
          <a:xfrm>
            <a:off x="2667000" y="4997328"/>
            <a:ext cx="5994400" cy="745076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r>
              <a:rPr lang="en-US" altLang="zh-TW" sz="3600" dirty="0"/>
              <a:t>Il </a:t>
            </a:r>
            <a:r>
              <a:rPr lang="en-US" altLang="zh-TW" sz="3600" dirty="0" err="1"/>
              <a:t>pleut</a:t>
            </a:r>
            <a:r>
              <a:rPr lang="en-US" altLang="zh-TW" sz="3600" dirty="0"/>
              <a:t> des </a:t>
            </a:r>
            <a:r>
              <a:rPr lang="en-US" altLang="zh-TW" sz="3600" dirty="0" err="1"/>
              <a:t>cordes</a:t>
            </a:r>
            <a:r>
              <a:rPr lang="en-US" altLang="zh-TW" sz="3600" dirty="0"/>
              <a:t>.</a:t>
            </a:r>
          </a:p>
        </p:txBody>
      </p:sp>
      <p:pic>
        <p:nvPicPr>
          <p:cNvPr id="30" name="object 13">
            <a:extLst>
              <a:ext uri="{FF2B5EF4-FFF2-40B4-BE49-F238E27FC236}">
                <a16:creationId xmlns:a16="http://schemas.microsoft.com/office/drawing/2014/main" id="{BAC63156-CD18-8BC8-5840-AB5963315FD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2" y="7347449"/>
            <a:ext cx="1131708" cy="1131708"/>
          </a:xfrm>
          <a:prstGeom prst="rect">
            <a:avLst/>
          </a:prstGeom>
        </p:spPr>
      </p:pic>
      <p:sp>
        <p:nvSpPr>
          <p:cNvPr id="31" name="object 14">
            <a:extLst>
              <a:ext uri="{FF2B5EF4-FFF2-40B4-BE49-F238E27FC236}">
                <a16:creationId xmlns:a16="http://schemas.microsoft.com/office/drawing/2014/main" id="{E586CDFB-8C06-4018-1A32-6FC27373946C}"/>
              </a:ext>
            </a:extLst>
          </p:cNvPr>
          <p:cNvSpPr txBox="1"/>
          <p:nvPr/>
        </p:nvSpPr>
        <p:spPr>
          <a:xfrm>
            <a:off x="960342" y="8668171"/>
            <a:ext cx="1243028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葡萄牙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5AE4D81B-70CF-F943-B893-78E3E913D698}"/>
              </a:ext>
            </a:extLst>
          </p:cNvPr>
          <p:cNvSpPr txBox="1"/>
          <p:nvPr/>
        </p:nvSpPr>
        <p:spPr>
          <a:xfrm>
            <a:off x="2667000" y="7347449"/>
            <a:ext cx="5994400" cy="86581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Está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 </a:t>
            </a: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chovendo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 </a:t>
            </a: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canivetes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.</a:t>
            </a:r>
          </a:p>
        </p:txBody>
      </p:sp>
      <p:pic>
        <p:nvPicPr>
          <p:cNvPr id="34" name="object 13">
            <a:extLst>
              <a:ext uri="{FF2B5EF4-FFF2-40B4-BE49-F238E27FC236}">
                <a16:creationId xmlns:a16="http://schemas.microsoft.com/office/drawing/2014/main" id="{E6F309B5-6927-F66C-3AE2-DABE0AD5D7FC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6600" y="2648652"/>
            <a:ext cx="1131712" cy="1128817"/>
          </a:xfrm>
          <a:prstGeom prst="rect">
            <a:avLst/>
          </a:prstGeom>
        </p:spPr>
      </p:pic>
      <p:sp>
        <p:nvSpPr>
          <p:cNvPr id="35" name="object 14">
            <a:extLst>
              <a:ext uri="{FF2B5EF4-FFF2-40B4-BE49-F238E27FC236}">
                <a16:creationId xmlns:a16="http://schemas.microsoft.com/office/drawing/2014/main" id="{07D4C230-7D24-FE9C-DCBD-63B58F4CE6D1}"/>
              </a:ext>
            </a:extLst>
          </p:cNvPr>
          <p:cNvSpPr txBox="1"/>
          <p:nvPr/>
        </p:nvSpPr>
        <p:spPr>
          <a:xfrm>
            <a:off x="9693084" y="3967929"/>
            <a:ext cx="998744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波蘭</a:t>
            </a:r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50355715-E135-01AD-E320-992C1BF9F97F}"/>
              </a:ext>
            </a:extLst>
          </p:cNvPr>
          <p:cNvSpPr txBox="1"/>
          <p:nvPr/>
        </p:nvSpPr>
        <p:spPr>
          <a:xfrm>
            <a:off x="11277600" y="2647207"/>
            <a:ext cx="5994400" cy="86581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Rzuca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 </a:t>
            </a: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żabami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.</a:t>
            </a:r>
          </a:p>
        </p:txBody>
      </p:sp>
      <p:pic>
        <p:nvPicPr>
          <p:cNvPr id="38" name="object 13">
            <a:extLst>
              <a:ext uri="{FF2B5EF4-FFF2-40B4-BE49-F238E27FC236}">
                <a16:creationId xmlns:a16="http://schemas.microsoft.com/office/drawing/2014/main" id="{5924DE5A-1970-E09D-8403-8BF45BF20D13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6602" y="4997328"/>
            <a:ext cx="1131708" cy="1131708"/>
          </a:xfrm>
          <a:prstGeom prst="rect">
            <a:avLst/>
          </a:prstGeom>
        </p:spPr>
      </p:pic>
      <p:sp>
        <p:nvSpPr>
          <p:cNvPr id="39" name="object 14">
            <a:extLst>
              <a:ext uri="{FF2B5EF4-FFF2-40B4-BE49-F238E27FC236}">
                <a16:creationId xmlns:a16="http://schemas.microsoft.com/office/drawing/2014/main" id="{B0F64012-B984-8816-E65C-F6F40855520D}"/>
              </a:ext>
            </a:extLst>
          </p:cNvPr>
          <p:cNvSpPr txBox="1"/>
          <p:nvPr/>
        </p:nvSpPr>
        <p:spPr>
          <a:xfrm>
            <a:off x="9693084" y="6318050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巴西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sp>
        <p:nvSpPr>
          <p:cNvPr id="40" name="object 7">
            <a:extLst>
              <a:ext uri="{FF2B5EF4-FFF2-40B4-BE49-F238E27FC236}">
                <a16:creationId xmlns:a16="http://schemas.microsoft.com/office/drawing/2014/main" id="{325E8071-0A34-9217-B1E0-B1B32FABEE41}"/>
              </a:ext>
            </a:extLst>
          </p:cNvPr>
          <p:cNvSpPr txBox="1"/>
          <p:nvPr/>
        </p:nvSpPr>
        <p:spPr>
          <a:xfrm>
            <a:off x="11277600" y="4997328"/>
            <a:ext cx="5994400" cy="86581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Chovem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 cobras e </a:t>
            </a:r>
            <a:r>
              <a:rPr lang="en-US" sz="3500" dirty="0" err="1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lagartos</a:t>
            </a:r>
            <a:r>
              <a:rPr lang="en-US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.</a:t>
            </a: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866EF96E-0E75-91D5-978F-353E359A339F}"/>
              </a:ext>
            </a:extLst>
          </p:cNvPr>
          <p:cNvGrpSpPr/>
          <p:nvPr/>
        </p:nvGrpSpPr>
        <p:grpSpPr>
          <a:xfrm>
            <a:off x="9626600" y="7347449"/>
            <a:ext cx="1131712" cy="1776652"/>
            <a:chOff x="1304328" y="2640192"/>
            <a:chExt cx="1131712" cy="1776652"/>
          </a:xfrm>
        </p:grpSpPr>
        <p:pic>
          <p:nvPicPr>
            <p:cNvPr id="42" name="object 13">
              <a:extLst>
                <a:ext uri="{FF2B5EF4-FFF2-40B4-BE49-F238E27FC236}">
                  <a16:creationId xmlns:a16="http://schemas.microsoft.com/office/drawing/2014/main" id="{1E51F926-A794-4DA6-B49B-F116DBAF2C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328" y="2640192"/>
              <a:ext cx="1131712" cy="1131708"/>
            </a:xfrm>
            <a:prstGeom prst="rect">
              <a:avLst/>
            </a:prstGeom>
          </p:spPr>
        </p:pic>
        <p:sp>
          <p:nvSpPr>
            <p:cNvPr id="43" name="object 14">
              <a:extLst>
                <a:ext uri="{FF2B5EF4-FFF2-40B4-BE49-F238E27FC236}">
                  <a16:creationId xmlns:a16="http://schemas.microsoft.com/office/drawing/2014/main" id="{04E032BF-DE5E-61FB-9040-9C1B8B061090}"/>
                </a:ext>
              </a:extLst>
            </p:cNvPr>
            <p:cNvSpPr txBox="1"/>
            <p:nvPr/>
          </p:nvSpPr>
          <p:spPr>
            <a:xfrm>
              <a:off x="1370812" y="3960914"/>
              <a:ext cx="998744" cy="4559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US" altLang="zh-TW" sz="2800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HK Thin"/>
                </a:rPr>
                <a:t>XX</a:t>
              </a:r>
              <a:endParaRPr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endParaRPr>
            </a:p>
          </p:txBody>
        </p:sp>
      </p:grpSp>
      <p:sp>
        <p:nvSpPr>
          <p:cNvPr id="44" name="object 7">
            <a:extLst>
              <a:ext uri="{FF2B5EF4-FFF2-40B4-BE49-F238E27FC236}">
                <a16:creationId xmlns:a16="http://schemas.microsoft.com/office/drawing/2014/main" id="{73013492-616A-A647-42F9-DF8AABCB9418}"/>
              </a:ext>
            </a:extLst>
          </p:cNvPr>
          <p:cNvSpPr txBox="1"/>
          <p:nvPr/>
        </p:nvSpPr>
        <p:spPr>
          <a:xfrm>
            <a:off x="11277600" y="7347449"/>
            <a:ext cx="5994400" cy="865814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1490"/>
              </a:spcBef>
            </a:pPr>
            <a:r>
              <a:rPr lang="en-US" altLang="zh-TW" sz="35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Trebuchet MS"/>
              </a:rPr>
              <a:t>XXXXXXXXXXXXXXXXX</a:t>
            </a:r>
            <a:endParaRPr sz="3500" dirty="0">
              <a:latin typeface="jf open 粉圓 2.1" panose="020B0500000000000000" pitchFamily="34" charset="-120"/>
              <a:ea typeface="jf open 粉圓 2.1" panose="020B0500000000000000" pitchFamily="34" charset="-120"/>
              <a:cs typeface="Trebuchet MS"/>
            </a:endParaRPr>
          </a:p>
        </p:txBody>
      </p:sp>
      <p:sp>
        <p:nvSpPr>
          <p:cNvPr id="47" name="TextBox 18">
            <a:extLst>
              <a:ext uri="{FF2B5EF4-FFF2-40B4-BE49-F238E27FC236}">
                <a16:creationId xmlns:a16="http://schemas.microsoft.com/office/drawing/2014/main" id="{07BFDFEF-91DE-3AA7-6172-FCA751F763A9}"/>
              </a:ext>
            </a:extLst>
          </p:cNvPr>
          <p:cNvSpPr txBox="1"/>
          <p:nvPr/>
        </p:nvSpPr>
        <p:spPr>
          <a:xfrm>
            <a:off x="5389878" y="1236328"/>
            <a:ext cx="7508243" cy="61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zh-TW" altLang="en-US" sz="6000" b="0" dirty="0">
                <a:solidFill>
                  <a:srgbClr val="E9480D"/>
                </a:solidFill>
                <a:latin typeface="Noto Sans TC SemiBold" panose="020B0200000000000000" pitchFamily="34" charset="-120"/>
                <a:ea typeface="Noto Sans TC SemiBold" panose="020B0200000000000000" pitchFamily="34" charset="-120"/>
              </a:rPr>
              <a:t>各國俚雨</a:t>
            </a:r>
            <a:endParaRPr lang="en-US" sz="6000" b="1" dirty="0">
              <a:solidFill>
                <a:srgbClr val="E9480D"/>
              </a:solidFill>
              <a:latin typeface="Agrandir Grand Heavy"/>
              <a:ea typeface="Agrandir Grand Heavy"/>
              <a:cs typeface="Agrandir Grand Heavy"/>
              <a:sym typeface="Agrandir Grand Heav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群組 22">
            <a:extLst>
              <a:ext uri="{FF2B5EF4-FFF2-40B4-BE49-F238E27FC236}">
                <a16:creationId xmlns:a16="http://schemas.microsoft.com/office/drawing/2014/main" id="{F04CB9C5-5B51-9AD1-0F9E-CEBE53AD9A1E}"/>
              </a:ext>
            </a:extLst>
          </p:cNvPr>
          <p:cNvGrpSpPr/>
          <p:nvPr/>
        </p:nvGrpSpPr>
        <p:grpSpPr>
          <a:xfrm>
            <a:off x="1016000" y="2647207"/>
            <a:ext cx="1131712" cy="1776652"/>
            <a:chOff x="1304328" y="2640192"/>
            <a:chExt cx="1131712" cy="1776652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328" y="2640192"/>
              <a:ext cx="1131712" cy="1131708"/>
            </a:xfrm>
            <a:prstGeom prst="rect">
              <a:avLst/>
            </a:prstGeom>
          </p:spPr>
        </p:pic>
        <p:sp>
          <p:nvSpPr>
            <p:cNvPr id="14" name="object 14"/>
            <p:cNvSpPr txBox="1"/>
            <p:nvPr/>
          </p:nvSpPr>
          <p:spPr>
            <a:xfrm>
              <a:off x="1370812" y="3960914"/>
              <a:ext cx="998744" cy="4559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sz="2800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HK Thin"/>
                </a:rPr>
                <a:t>英國</a:t>
              </a:r>
            </a:p>
          </p:txBody>
        </p:sp>
      </p:grpSp>
      <p:pic>
        <p:nvPicPr>
          <p:cNvPr id="26" name="object 13">
            <a:extLst>
              <a:ext uri="{FF2B5EF4-FFF2-40B4-BE49-F238E27FC236}">
                <a16:creationId xmlns:a16="http://schemas.microsoft.com/office/drawing/2014/main" id="{8431448A-39A3-AF44-49D7-8AB9F204C27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2" y="4997328"/>
            <a:ext cx="1131708" cy="1131708"/>
          </a:xfrm>
          <a:prstGeom prst="rect">
            <a:avLst/>
          </a:prstGeom>
        </p:spPr>
      </p:pic>
      <p:sp>
        <p:nvSpPr>
          <p:cNvPr id="27" name="object 14">
            <a:extLst>
              <a:ext uri="{FF2B5EF4-FFF2-40B4-BE49-F238E27FC236}">
                <a16:creationId xmlns:a16="http://schemas.microsoft.com/office/drawing/2014/main" id="{04112D2A-ABCD-13BC-2520-B62BEB33DB1E}"/>
              </a:ext>
            </a:extLst>
          </p:cNvPr>
          <p:cNvSpPr txBox="1"/>
          <p:nvPr/>
        </p:nvSpPr>
        <p:spPr>
          <a:xfrm>
            <a:off x="1082484" y="6318050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法國</a:t>
            </a:r>
          </a:p>
        </p:txBody>
      </p:sp>
      <p:pic>
        <p:nvPicPr>
          <p:cNvPr id="30" name="object 13">
            <a:extLst>
              <a:ext uri="{FF2B5EF4-FFF2-40B4-BE49-F238E27FC236}">
                <a16:creationId xmlns:a16="http://schemas.microsoft.com/office/drawing/2014/main" id="{BAC63156-CD18-8BC8-5840-AB5963315FD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2" y="7347449"/>
            <a:ext cx="1131708" cy="1131708"/>
          </a:xfrm>
          <a:prstGeom prst="rect">
            <a:avLst/>
          </a:prstGeom>
        </p:spPr>
      </p:pic>
      <p:sp>
        <p:nvSpPr>
          <p:cNvPr id="31" name="object 14">
            <a:extLst>
              <a:ext uri="{FF2B5EF4-FFF2-40B4-BE49-F238E27FC236}">
                <a16:creationId xmlns:a16="http://schemas.microsoft.com/office/drawing/2014/main" id="{E586CDFB-8C06-4018-1A32-6FC27373946C}"/>
              </a:ext>
            </a:extLst>
          </p:cNvPr>
          <p:cNvSpPr txBox="1"/>
          <p:nvPr/>
        </p:nvSpPr>
        <p:spPr>
          <a:xfrm>
            <a:off x="960342" y="8668171"/>
            <a:ext cx="1243028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葡萄牙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pic>
        <p:nvPicPr>
          <p:cNvPr id="34" name="object 13">
            <a:extLst>
              <a:ext uri="{FF2B5EF4-FFF2-40B4-BE49-F238E27FC236}">
                <a16:creationId xmlns:a16="http://schemas.microsoft.com/office/drawing/2014/main" id="{E6F309B5-6927-F66C-3AE2-DABE0AD5D7FC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6600" y="2648652"/>
            <a:ext cx="1131712" cy="1128817"/>
          </a:xfrm>
          <a:prstGeom prst="rect">
            <a:avLst/>
          </a:prstGeom>
        </p:spPr>
      </p:pic>
      <p:sp>
        <p:nvSpPr>
          <p:cNvPr id="35" name="object 14">
            <a:extLst>
              <a:ext uri="{FF2B5EF4-FFF2-40B4-BE49-F238E27FC236}">
                <a16:creationId xmlns:a16="http://schemas.microsoft.com/office/drawing/2014/main" id="{07D4C230-7D24-FE9C-DCBD-63B58F4CE6D1}"/>
              </a:ext>
            </a:extLst>
          </p:cNvPr>
          <p:cNvSpPr txBox="1"/>
          <p:nvPr/>
        </p:nvSpPr>
        <p:spPr>
          <a:xfrm>
            <a:off x="9693084" y="3967929"/>
            <a:ext cx="998744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波蘭</a:t>
            </a:r>
          </a:p>
        </p:txBody>
      </p:sp>
      <p:pic>
        <p:nvPicPr>
          <p:cNvPr id="38" name="object 13">
            <a:extLst>
              <a:ext uri="{FF2B5EF4-FFF2-40B4-BE49-F238E27FC236}">
                <a16:creationId xmlns:a16="http://schemas.microsoft.com/office/drawing/2014/main" id="{5924DE5A-1970-E09D-8403-8BF45BF20D13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6602" y="4997328"/>
            <a:ext cx="1131708" cy="1131708"/>
          </a:xfrm>
          <a:prstGeom prst="rect">
            <a:avLst/>
          </a:prstGeom>
        </p:spPr>
      </p:pic>
      <p:sp>
        <p:nvSpPr>
          <p:cNvPr id="39" name="object 14">
            <a:extLst>
              <a:ext uri="{FF2B5EF4-FFF2-40B4-BE49-F238E27FC236}">
                <a16:creationId xmlns:a16="http://schemas.microsoft.com/office/drawing/2014/main" id="{B0F64012-B984-8816-E65C-F6F40855520D}"/>
              </a:ext>
            </a:extLst>
          </p:cNvPr>
          <p:cNvSpPr txBox="1"/>
          <p:nvPr/>
        </p:nvSpPr>
        <p:spPr>
          <a:xfrm>
            <a:off x="9693084" y="6318050"/>
            <a:ext cx="998744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TW" altLang="en-US"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rPr>
              <a:t>巴西</a:t>
            </a:r>
            <a:endParaRPr sz="2800" dirty="0">
              <a:latin typeface="jf open 粉圓 2.1" panose="020B0500000000000000" pitchFamily="34" charset="-120"/>
              <a:ea typeface="jf open 粉圓 2.1" panose="020B0500000000000000" pitchFamily="34" charset="-120"/>
              <a:cs typeface="Noto Sans HK Thin"/>
            </a:endParaRP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866EF96E-0E75-91D5-978F-353E359A339F}"/>
              </a:ext>
            </a:extLst>
          </p:cNvPr>
          <p:cNvGrpSpPr/>
          <p:nvPr/>
        </p:nvGrpSpPr>
        <p:grpSpPr>
          <a:xfrm>
            <a:off x="9626600" y="7347449"/>
            <a:ext cx="1131712" cy="1776652"/>
            <a:chOff x="1304328" y="2640192"/>
            <a:chExt cx="1131712" cy="1776652"/>
          </a:xfrm>
        </p:grpSpPr>
        <p:pic>
          <p:nvPicPr>
            <p:cNvPr id="42" name="object 13">
              <a:extLst>
                <a:ext uri="{FF2B5EF4-FFF2-40B4-BE49-F238E27FC236}">
                  <a16:creationId xmlns:a16="http://schemas.microsoft.com/office/drawing/2014/main" id="{1E51F926-A794-4DA6-B49B-F116DBAF2C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328" y="2640192"/>
              <a:ext cx="1131712" cy="1131708"/>
            </a:xfrm>
            <a:prstGeom prst="rect">
              <a:avLst/>
            </a:prstGeom>
          </p:spPr>
        </p:pic>
        <p:sp>
          <p:nvSpPr>
            <p:cNvPr id="43" name="object 14">
              <a:extLst>
                <a:ext uri="{FF2B5EF4-FFF2-40B4-BE49-F238E27FC236}">
                  <a16:creationId xmlns:a16="http://schemas.microsoft.com/office/drawing/2014/main" id="{04E032BF-DE5E-61FB-9040-9C1B8B061090}"/>
                </a:ext>
              </a:extLst>
            </p:cNvPr>
            <p:cNvSpPr txBox="1"/>
            <p:nvPr/>
          </p:nvSpPr>
          <p:spPr>
            <a:xfrm>
              <a:off x="1370812" y="3960914"/>
              <a:ext cx="998744" cy="45593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en-US" altLang="zh-TW" sz="2800" dirty="0">
                  <a:latin typeface="jf open 粉圓 2.1" panose="020B0500000000000000" pitchFamily="34" charset="-120"/>
                  <a:ea typeface="jf open 粉圓 2.1" panose="020B0500000000000000" pitchFamily="34" charset="-120"/>
                  <a:cs typeface="Noto Sans HK Thin"/>
                </a:rPr>
                <a:t>XX</a:t>
              </a:r>
              <a:endParaRPr sz="2800" dirty="0">
                <a:latin typeface="jf open 粉圓 2.1" panose="020B0500000000000000" pitchFamily="34" charset="-120"/>
                <a:ea typeface="jf open 粉圓 2.1" panose="020B0500000000000000" pitchFamily="34" charset="-120"/>
                <a:cs typeface="Noto Sans HK Thin"/>
              </a:endParaRPr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76107499-A55E-FA5B-CCBD-2E90FB3AE0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69" r="11100"/>
          <a:stretch/>
        </p:blipFill>
        <p:spPr>
          <a:xfrm>
            <a:off x="3657600" y="7358814"/>
            <a:ext cx="3200400" cy="266148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CB3DC66-D7DF-B7BB-F7DD-AE5781FE03D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686" y="2324100"/>
            <a:ext cx="2444628" cy="244462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EA7332E-1577-3EC2-E3EC-A567FAC0EC0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118" y="2176025"/>
            <a:ext cx="2190750" cy="292100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6E8C848-5A5A-467B-A994-3724C95D2DA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15" b="5819"/>
          <a:stretch/>
        </p:blipFill>
        <p:spPr>
          <a:xfrm>
            <a:off x="3429000" y="4816602"/>
            <a:ext cx="4114800" cy="26128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56356B0-A2D9-2A78-F31E-CB4A5AF4119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232" y="1914342"/>
            <a:ext cx="2895600" cy="2895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C7DA4B1-553A-55E9-9CD4-90BB83BDAC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5283" y="3148668"/>
            <a:ext cx="3157610" cy="42101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D45E0B5-3D97-457B-2F54-725FC578776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6" b="25178"/>
          <a:stretch/>
        </p:blipFill>
        <p:spPr>
          <a:xfrm>
            <a:off x="11412232" y="4987803"/>
            <a:ext cx="2857759" cy="1750277"/>
          </a:xfrm>
          <a:prstGeom prst="rect">
            <a:avLst/>
          </a:prstGeom>
        </p:spPr>
      </p:pic>
      <p:sp>
        <p:nvSpPr>
          <p:cNvPr id="11" name="TextBox 18">
            <a:extLst>
              <a:ext uri="{FF2B5EF4-FFF2-40B4-BE49-F238E27FC236}">
                <a16:creationId xmlns:a16="http://schemas.microsoft.com/office/drawing/2014/main" id="{BFE59984-8153-41C0-8E57-CE1122D013D6}"/>
              </a:ext>
            </a:extLst>
          </p:cNvPr>
          <p:cNvSpPr txBox="1"/>
          <p:nvPr/>
        </p:nvSpPr>
        <p:spPr>
          <a:xfrm>
            <a:off x="5389878" y="1236328"/>
            <a:ext cx="7508243" cy="61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zh-TW" altLang="en-US" sz="6000" b="0" dirty="0">
                <a:solidFill>
                  <a:srgbClr val="E9480D"/>
                </a:solidFill>
                <a:latin typeface="Noto Sans TC SemiBold" panose="020B0200000000000000" pitchFamily="34" charset="-120"/>
                <a:ea typeface="Noto Sans TC SemiBold" panose="020B0200000000000000" pitchFamily="34" charset="-120"/>
              </a:rPr>
              <a:t>各國俚雨</a:t>
            </a:r>
            <a:endParaRPr lang="en-US" sz="6000" b="1" dirty="0">
              <a:solidFill>
                <a:srgbClr val="E9480D"/>
              </a:solidFill>
              <a:latin typeface="Agrandir Grand Heavy"/>
              <a:ea typeface="Agrandir Grand Heavy"/>
              <a:cs typeface="Agrandir Grand Heavy"/>
              <a:sym typeface="Agrandir Grand Heavy"/>
            </a:endParaRPr>
          </a:p>
        </p:txBody>
      </p:sp>
    </p:spTree>
    <p:extLst>
      <p:ext uri="{BB962C8B-B14F-4D97-AF65-F5344CB8AC3E}">
        <p14:creationId xmlns:p14="http://schemas.microsoft.com/office/powerpoint/2010/main" val="1799936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230686" y="2403896"/>
            <a:ext cx="9826629" cy="510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8"/>
              </a:lnSpc>
            </a:pPr>
            <a:r>
              <a:rPr lang="en-US" sz="15000" b="1" dirty="0">
                <a:solidFill>
                  <a:srgbClr val="E9480D"/>
                </a:solidFill>
                <a:latin typeface="Agrandir Grand Heavy"/>
                <a:ea typeface="Agrandir Grand Heavy"/>
                <a:cs typeface="Agrandir Grand Heavy"/>
                <a:sym typeface="Agrandir Grand Heav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177</Words>
  <Application>Microsoft Office PowerPoint</Application>
  <PresentationFormat>自訂</PresentationFormat>
  <Paragraphs>59</Paragraphs>
  <Slides>9</Slides>
  <Notes>0</Notes>
  <HiddenSlides>0</HiddenSlides>
  <MMClips>2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Agrandir Grand Heavy</vt:lpstr>
      <vt:lpstr>Calibri</vt:lpstr>
      <vt:lpstr>Noto Sans TC SemiBold</vt:lpstr>
      <vt:lpstr>Noto Sans TC</vt:lpstr>
      <vt:lpstr>Noto Sans TC Black</vt:lpstr>
      <vt:lpstr>jf open 粉圓 2.1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White and Orange Modern Pitch Deck Presentation</dc:title>
  <cp:lastModifiedBy>徐曼玲</cp:lastModifiedBy>
  <cp:revision>5</cp:revision>
  <dcterms:created xsi:type="dcterms:W3CDTF">2006-08-16T00:00:00Z</dcterms:created>
  <dcterms:modified xsi:type="dcterms:W3CDTF">2026-10-16T12:44:03Z</dcterms:modified>
  <dc:identifier>DAHX8dNQ6z8</dc:identifier>
</cp:coreProperties>
</file>