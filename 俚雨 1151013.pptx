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48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77" r:id="rId5"/>
    <p:sldId id="287" r:id="rId6"/>
    <p:sldId id="259" r:id="rId7"/>
    <p:sldId id="260" r:id="rId8"/>
    <p:sldId id="261" r:id="rId9"/>
    <p:sldId id="286" r:id="rId10"/>
    <p:sldId id="281" r:id="rId11"/>
    <p:sldId id="263" r:id="rId12"/>
    <p:sldId id="264" r:id="rId13"/>
    <p:sldId id="282" r:id="rId14"/>
    <p:sldId id="265" r:id="rId15"/>
    <p:sldId id="266" r:id="rId16"/>
    <p:sldId id="283" r:id="rId17"/>
    <p:sldId id="267" r:id="rId18"/>
    <p:sldId id="268" r:id="rId19"/>
    <p:sldId id="284" r:id="rId20"/>
    <p:sldId id="269" r:id="rId21"/>
    <p:sldId id="285" r:id="rId22"/>
    <p:sldId id="270" r:id="rId23"/>
    <p:sldId id="272" r:id="rId24"/>
    <p:sldId id="273" r:id="rId25"/>
    <p:sldId id="274" r:id="rId26"/>
    <p:sldId id="279" r:id="rId27"/>
    <p:sldId id="275" r:id="rId28"/>
    <p:sldId id="278" r:id="rId29"/>
    <p:sldId id="288" r:id="rId3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D2AA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69" autoAdjust="0"/>
    <p:restoredTop sz="94660"/>
  </p:normalViewPr>
  <p:slideViewPr>
    <p:cSldViewPr>
      <p:cViewPr varScale="1">
        <p:scale>
          <a:sx n="59" d="100"/>
          <a:sy n="59" d="100"/>
        </p:scale>
        <p:origin x="360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C64DE-E35C-4A3C-ADBF-E33EFB4E7885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0705C9-BB9A-4D1B-95F1-4CE40E62D2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2441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0705C9-BB9A-4D1B-95F1-4CE40E62D2A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8829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775836" y="757774"/>
            <a:ext cx="16720819" cy="8771890"/>
          </a:xfrm>
          <a:custGeom>
            <a:avLst/>
            <a:gdLst/>
            <a:ahLst/>
            <a:cxnLst/>
            <a:rect l="l" t="t" r="r" b="b"/>
            <a:pathLst>
              <a:path w="16720819" h="8771890">
                <a:moveTo>
                  <a:pt x="16402966" y="8771451"/>
                </a:moveTo>
                <a:lnTo>
                  <a:pt x="333376" y="8771451"/>
                </a:lnTo>
                <a:lnTo>
                  <a:pt x="284111" y="8767847"/>
                </a:lnTo>
                <a:lnTo>
                  <a:pt x="237092" y="8757346"/>
                </a:lnTo>
                <a:lnTo>
                  <a:pt x="192832" y="8740476"/>
                </a:lnTo>
                <a:lnTo>
                  <a:pt x="151848" y="8717751"/>
                </a:lnTo>
                <a:lnTo>
                  <a:pt x="114656" y="8689688"/>
                </a:lnTo>
                <a:lnTo>
                  <a:pt x="81771" y="8656801"/>
                </a:lnTo>
                <a:lnTo>
                  <a:pt x="53709" y="8619607"/>
                </a:lnTo>
                <a:lnTo>
                  <a:pt x="30985" y="8578622"/>
                </a:lnTo>
                <a:lnTo>
                  <a:pt x="14115" y="8534360"/>
                </a:lnTo>
                <a:lnTo>
                  <a:pt x="3615" y="8487338"/>
                </a:lnTo>
                <a:lnTo>
                  <a:pt x="0" y="8438071"/>
                </a:lnTo>
                <a:lnTo>
                  <a:pt x="0" y="333375"/>
                </a:lnTo>
                <a:lnTo>
                  <a:pt x="3615" y="284111"/>
                </a:lnTo>
                <a:lnTo>
                  <a:pt x="14115" y="237092"/>
                </a:lnTo>
                <a:lnTo>
                  <a:pt x="30985" y="192833"/>
                </a:lnTo>
                <a:lnTo>
                  <a:pt x="53709" y="151849"/>
                </a:lnTo>
                <a:lnTo>
                  <a:pt x="81771" y="114657"/>
                </a:lnTo>
                <a:lnTo>
                  <a:pt x="114656" y="81771"/>
                </a:lnTo>
                <a:lnTo>
                  <a:pt x="151848" y="53709"/>
                </a:lnTo>
                <a:lnTo>
                  <a:pt x="192832" y="30985"/>
                </a:lnTo>
                <a:lnTo>
                  <a:pt x="237092" y="14115"/>
                </a:lnTo>
                <a:lnTo>
                  <a:pt x="284111" y="3615"/>
                </a:lnTo>
                <a:lnTo>
                  <a:pt x="333376" y="0"/>
                </a:lnTo>
                <a:lnTo>
                  <a:pt x="16402966" y="0"/>
                </a:lnTo>
                <a:lnTo>
                  <a:pt x="16452225" y="3615"/>
                </a:lnTo>
                <a:lnTo>
                  <a:pt x="16499241" y="14115"/>
                </a:lnTo>
                <a:lnTo>
                  <a:pt x="16543497" y="30985"/>
                </a:lnTo>
                <a:lnTo>
                  <a:pt x="16584479" y="53709"/>
                </a:lnTo>
                <a:lnTo>
                  <a:pt x="16621670" y="81771"/>
                </a:lnTo>
                <a:lnTo>
                  <a:pt x="16654555" y="114657"/>
                </a:lnTo>
                <a:lnTo>
                  <a:pt x="16682617" y="151849"/>
                </a:lnTo>
                <a:lnTo>
                  <a:pt x="16705341" y="192833"/>
                </a:lnTo>
                <a:lnTo>
                  <a:pt x="16720580" y="232814"/>
                </a:lnTo>
                <a:lnTo>
                  <a:pt x="16720580" y="8538638"/>
                </a:lnTo>
                <a:lnTo>
                  <a:pt x="16705341" y="8578622"/>
                </a:lnTo>
                <a:lnTo>
                  <a:pt x="16682617" y="8619607"/>
                </a:lnTo>
                <a:lnTo>
                  <a:pt x="16654555" y="8656801"/>
                </a:lnTo>
                <a:lnTo>
                  <a:pt x="16621670" y="8689688"/>
                </a:lnTo>
                <a:lnTo>
                  <a:pt x="16584479" y="8717751"/>
                </a:lnTo>
                <a:lnTo>
                  <a:pt x="16543497" y="8740476"/>
                </a:lnTo>
                <a:lnTo>
                  <a:pt x="16499241" y="8757346"/>
                </a:lnTo>
                <a:lnTo>
                  <a:pt x="16452225" y="8767847"/>
                </a:lnTo>
                <a:lnTo>
                  <a:pt x="16402966" y="87714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90600" y="877885"/>
            <a:ext cx="4301490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51749" y="1035050"/>
            <a:ext cx="1549400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02280" y="2644981"/>
            <a:ext cx="12470130" cy="5869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24268"/>
            <a:ext cx="18288000" cy="10286999"/>
          </a:xfrm>
          <a:prstGeom prst="rect">
            <a:avLst/>
          </a:prstGeom>
        </p:spPr>
      </p:pic>
      <p:sp>
        <p:nvSpPr>
          <p:cNvPr id="4" name="object 4"/>
          <p:cNvSpPr>
            <a:spLocks/>
          </p:cNvSpPr>
          <p:nvPr/>
        </p:nvSpPr>
        <p:spPr>
          <a:xfrm>
            <a:off x="0" y="9207502"/>
            <a:ext cx="18288000" cy="19050"/>
          </a:xfrm>
          <a:custGeom>
            <a:avLst/>
            <a:gdLst/>
            <a:ahLst/>
            <a:cxnLst/>
            <a:rect l="l" t="t" r="r" b="b"/>
            <a:pathLst>
              <a:path w="18288000" h="19050">
                <a:moveTo>
                  <a:pt x="1028700" y="0"/>
                </a:moveTo>
                <a:lnTo>
                  <a:pt x="0" y="0"/>
                </a:lnTo>
                <a:lnTo>
                  <a:pt x="0" y="19050"/>
                </a:lnTo>
                <a:lnTo>
                  <a:pt x="1028700" y="19050"/>
                </a:lnTo>
                <a:lnTo>
                  <a:pt x="1028700" y="0"/>
                </a:lnTo>
                <a:close/>
              </a:path>
              <a:path w="18288000" h="19050">
                <a:moveTo>
                  <a:pt x="18288000" y="0"/>
                </a:moveTo>
                <a:lnTo>
                  <a:pt x="13059702" y="0"/>
                </a:lnTo>
                <a:lnTo>
                  <a:pt x="13059702" y="19050"/>
                </a:lnTo>
                <a:lnTo>
                  <a:pt x="18288000" y="1905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51230" y="1680707"/>
            <a:ext cx="7464170" cy="24795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0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PMingLiU"/>
              </a:rPr>
              <a:t>俚雨</a:t>
            </a:r>
            <a:endParaRPr sz="16000" dirty="0">
              <a:latin typeface="jf open 粉圓 2.1" panose="020B0500000000000000" pitchFamily="34" charset="-120"/>
              <a:ea typeface="jf open 粉圓 2.1" panose="020B0500000000000000" pitchFamily="34" charset="-120"/>
              <a:cs typeface="PMingLiU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776619" y="4803791"/>
            <a:ext cx="61214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0" dirty="0"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PMingLiU"/>
              </a:rPr>
              <a:t>同一場雨，世界會怎麼說？</a:t>
            </a:r>
            <a:endParaRPr sz="4000" dirty="0">
              <a:latin typeface="jf open 粉圓 2.1" panose="020B0500000000000000" pitchFamily="34" charset="-120"/>
              <a:ea typeface="jf open 粉圓 2.1" panose="020B0500000000000000" pitchFamily="34" charset="-120"/>
              <a:cs typeface="PMingLiU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4E2642E-3F0B-F9EC-C9DF-0BC1BC359281}"/>
              </a:ext>
            </a:extLst>
          </p:cNvPr>
          <p:cNvSpPr txBox="1"/>
          <p:nvPr/>
        </p:nvSpPr>
        <p:spPr>
          <a:xfrm>
            <a:off x="1600200" y="9032361"/>
            <a:ext cx="1127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0" i="0" dirty="0">
                <a:solidFill>
                  <a:schemeClr val="bg1"/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1121834 </a:t>
            </a:r>
            <a:r>
              <a:rPr lang="zh-TW" altLang="en-US" sz="2000" b="0" i="0" dirty="0">
                <a:solidFill>
                  <a:schemeClr val="bg1"/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徐曼玲　</a:t>
            </a:r>
            <a:r>
              <a:rPr lang="en-US" altLang="zh-TW" sz="2000" b="0" i="0" dirty="0">
                <a:solidFill>
                  <a:schemeClr val="bg1"/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1121819 </a:t>
            </a:r>
            <a:r>
              <a:rPr lang="zh-TW" altLang="en-US" sz="2000" b="0" i="0" dirty="0">
                <a:solidFill>
                  <a:schemeClr val="bg1"/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游祐瑄　</a:t>
            </a:r>
            <a:r>
              <a:rPr lang="en-US" altLang="zh-TW" sz="2000" b="0" i="0" dirty="0">
                <a:solidFill>
                  <a:schemeClr val="bg1"/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1121821 </a:t>
            </a:r>
            <a:r>
              <a:rPr lang="zh-TW" altLang="en-US" sz="2000" b="0" i="0" dirty="0">
                <a:solidFill>
                  <a:schemeClr val="bg1"/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陳品霓　</a:t>
            </a:r>
            <a:r>
              <a:rPr lang="en-US" altLang="zh-TW" sz="2000" b="0" i="0" dirty="0">
                <a:solidFill>
                  <a:schemeClr val="bg1"/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1122032 </a:t>
            </a:r>
            <a:r>
              <a:rPr lang="zh-TW" altLang="en-US" sz="2000" b="0" i="0" dirty="0">
                <a:solidFill>
                  <a:schemeClr val="bg1"/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黃麗文　</a:t>
            </a:r>
            <a:r>
              <a:rPr lang="en-US" altLang="zh-TW" sz="2000" b="0" i="0" dirty="0">
                <a:solidFill>
                  <a:schemeClr val="bg1"/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1122006 </a:t>
            </a:r>
            <a:r>
              <a:rPr lang="zh-TW" altLang="en-US" sz="2000" b="0" i="0" dirty="0">
                <a:solidFill>
                  <a:schemeClr val="bg1"/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黃翊禎</a:t>
            </a:r>
            <a:endParaRPr lang="zh-TW" altLang="en-US" sz="2000" dirty="0">
              <a:solidFill>
                <a:schemeClr val="bg1"/>
              </a:solidFill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20B252FD-8973-D7C6-1C09-0A306E35E8F9}"/>
              </a:ext>
            </a:extLst>
          </p:cNvPr>
          <p:cNvSpPr txBox="1"/>
          <p:nvPr/>
        </p:nvSpPr>
        <p:spPr>
          <a:xfrm>
            <a:off x="4572000" y="1085849"/>
            <a:ext cx="9144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lang="en-US" altLang="zh-TW" sz="6000" dirty="0"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Agenda</a:t>
            </a:r>
            <a:endParaRPr lang="zh-TW" altLang="en-US" sz="6000" dirty="0">
              <a:solidFill>
                <a:srgbClr val="FFCC00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A769009D-4ACD-CD5B-E6FC-B58312D68C34}"/>
              </a:ext>
            </a:extLst>
          </p:cNvPr>
          <p:cNvGrpSpPr/>
          <p:nvPr/>
        </p:nvGrpSpPr>
        <p:grpSpPr>
          <a:xfrm>
            <a:off x="4267200" y="3009900"/>
            <a:ext cx="4648200" cy="630942"/>
            <a:chOff x="4267200" y="3009900"/>
            <a:chExt cx="4648200" cy="630942"/>
          </a:xfrm>
        </p:grpSpPr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D94B95A6-AE7B-9B12-0FF4-D2173654AAE8}"/>
                </a:ext>
              </a:extLst>
            </p:cNvPr>
            <p:cNvSpPr txBox="1"/>
            <p:nvPr/>
          </p:nvSpPr>
          <p:spPr>
            <a:xfrm>
              <a:off x="5181600" y="3009900"/>
              <a:ext cx="37338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zh-TW" altLang="en-US" sz="3500" spc="-125" dirty="0">
                  <a:solidFill>
                    <a:srgbClr val="ECECEC"/>
                  </a:solidFill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創作動機</a:t>
              </a:r>
              <a:endParaRPr lang="zh-TW" altLang="en-US" sz="3500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9DF601F2-953A-F017-61A8-3103126324C8}"/>
                </a:ext>
              </a:extLst>
            </p:cNvPr>
            <p:cNvSpPr txBox="1"/>
            <p:nvPr/>
          </p:nvSpPr>
          <p:spPr>
            <a:xfrm>
              <a:off x="4267200" y="3009900"/>
              <a:ext cx="6096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TW" sz="3500" spc="-125" dirty="0">
                  <a:solidFill>
                    <a:srgbClr val="ECECEC"/>
                  </a:solidFill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1</a:t>
              </a:r>
            </a:p>
          </p:txBody>
        </p:sp>
      </p:grp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9D1A552B-99A9-CBD7-B0ED-7D120F2F9D44}"/>
              </a:ext>
            </a:extLst>
          </p:cNvPr>
          <p:cNvGrpSpPr/>
          <p:nvPr/>
        </p:nvGrpSpPr>
        <p:grpSpPr>
          <a:xfrm>
            <a:off x="4267200" y="4230453"/>
            <a:ext cx="4648200" cy="630942"/>
            <a:chOff x="4267200" y="3869442"/>
            <a:chExt cx="4648200" cy="630942"/>
          </a:xfrm>
        </p:grpSpPr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BBEF6120-C8D2-14DB-732E-FE65FBEC8B2C}"/>
                </a:ext>
              </a:extLst>
            </p:cNvPr>
            <p:cNvSpPr txBox="1"/>
            <p:nvPr/>
          </p:nvSpPr>
          <p:spPr>
            <a:xfrm>
              <a:off x="5181600" y="3869442"/>
              <a:ext cx="37338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zh-TW" altLang="en-US" sz="3500" spc="-125" dirty="0">
                  <a:solidFill>
                    <a:srgbClr val="ECECEC"/>
                  </a:solidFill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核心概念</a:t>
              </a:r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75DD489E-83E6-7A7C-C7CE-C31FBB1B944E}"/>
                </a:ext>
              </a:extLst>
            </p:cNvPr>
            <p:cNvSpPr txBox="1"/>
            <p:nvPr/>
          </p:nvSpPr>
          <p:spPr>
            <a:xfrm>
              <a:off x="4267200" y="3869442"/>
              <a:ext cx="6096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TW" sz="3500" spc="-125" dirty="0">
                  <a:solidFill>
                    <a:srgbClr val="ECECEC"/>
                  </a:solidFill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2</a:t>
              </a:r>
            </a:p>
          </p:txBody>
        </p:sp>
      </p:grp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0DC0B648-94AA-8847-D1B0-2770D890E73F}"/>
              </a:ext>
            </a:extLst>
          </p:cNvPr>
          <p:cNvGrpSpPr/>
          <p:nvPr/>
        </p:nvGrpSpPr>
        <p:grpSpPr>
          <a:xfrm>
            <a:off x="4267200" y="5451006"/>
            <a:ext cx="4648200" cy="630942"/>
            <a:chOff x="4267200" y="4728984"/>
            <a:chExt cx="4648200" cy="630942"/>
          </a:xfrm>
        </p:grpSpPr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563760A2-CF0B-8DE8-0923-DA663AF3EAB5}"/>
                </a:ext>
              </a:extLst>
            </p:cNvPr>
            <p:cNvSpPr txBox="1"/>
            <p:nvPr/>
          </p:nvSpPr>
          <p:spPr>
            <a:xfrm>
              <a:off x="5181600" y="4728984"/>
              <a:ext cx="37338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zh-TW" altLang="en-US" sz="3500" spc="-125" dirty="0">
                  <a:solidFill>
                    <a:srgbClr val="ECECEC"/>
                  </a:solidFill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美術風格</a:t>
              </a: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F4B19305-F0B1-3DA6-061E-4CD4106ABF39}"/>
                </a:ext>
              </a:extLst>
            </p:cNvPr>
            <p:cNvSpPr txBox="1"/>
            <p:nvPr/>
          </p:nvSpPr>
          <p:spPr>
            <a:xfrm>
              <a:off x="4267200" y="4728984"/>
              <a:ext cx="6096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TW" sz="3500" spc="-125" dirty="0">
                  <a:solidFill>
                    <a:srgbClr val="ECECEC"/>
                  </a:solidFill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3</a:t>
              </a:r>
            </a:p>
          </p:txBody>
        </p:sp>
      </p:grp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6976D656-9543-7B3A-DF6F-4765D1D2B4E2}"/>
              </a:ext>
            </a:extLst>
          </p:cNvPr>
          <p:cNvGrpSpPr/>
          <p:nvPr/>
        </p:nvGrpSpPr>
        <p:grpSpPr>
          <a:xfrm>
            <a:off x="4267200" y="6671559"/>
            <a:ext cx="4648200" cy="630942"/>
            <a:chOff x="4267200" y="6671559"/>
            <a:chExt cx="4648200" cy="630942"/>
          </a:xfrm>
        </p:grpSpPr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D0645250-A7F4-FE68-15A4-A5C4AB702313}"/>
                </a:ext>
              </a:extLst>
            </p:cNvPr>
            <p:cNvSpPr txBox="1"/>
            <p:nvPr/>
          </p:nvSpPr>
          <p:spPr>
            <a:xfrm>
              <a:off x="5181600" y="6671559"/>
              <a:ext cx="37338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zh-TW" altLang="en-US" sz="3500" spc="-125" dirty="0">
                  <a:solidFill>
                    <a:srgbClr val="ECECEC"/>
                  </a:solidFill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俚雨設計</a:t>
              </a: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8C3FDB14-30BC-0A3D-55F2-B67B1E78E621}"/>
                </a:ext>
              </a:extLst>
            </p:cNvPr>
            <p:cNvSpPr txBox="1"/>
            <p:nvPr/>
          </p:nvSpPr>
          <p:spPr>
            <a:xfrm>
              <a:off x="4267200" y="6671559"/>
              <a:ext cx="6096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TW" sz="3500" spc="-125" dirty="0">
                  <a:solidFill>
                    <a:srgbClr val="ECECEC"/>
                  </a:solidFill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4</a:t>
              </a:r>
            </a:p>
          </p:txBody>
        </p: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6F6CF562-C103-D48C-D3DD-61EA747C27D7}"/>
              </a:ext>
            </a:extLst>
          </p:cNvPr>
          <p:cNvGrpSpPr/>
          <p:nvPr/>
        </p:nvGrpSpPr>
        <p:grpSpPr>
          <a:xfrm>
            <a:off x="11201400" y="2997200"/>
            <a:ext cx="4648200" cy="630942"/>
            <a:chOff x="11201400" y="2997200"/>
            <a:chExt cx="4648200" cy="630942"/>
          </a:xfrm>
        </p:grpSpPr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EAC0F571-EC5E-4900-5452-A4E83B64622C}"/>
                </a:ext>
              </a:extLst>
            </p:cNvPr>
            <p:cNvSpPr txBox="1"/>
            <p:nvPr/>
          </p:nvSpPr>
          <p:spPr>
            <a:xfrm>
              <a:off x="12115800" y="2997200"/>
              <a:ext cx="37338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TW" sz="3500" spc="-125" dirty="0">
                  <a:solidFill>
                    <a:srgbClr val="ECECEC"/>
                  </a:solidFill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1111111</a:t>
              </a:r>
              <a:endParaRPr lang="zh-TW" altLang="en-US" sz="3500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endParaRP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B5981EEE-2E8E-2BBC-CB89-7E127A1D6C74}"/>
                </a:ext>
              </a:extLst>
            </p:cNvPr>
            <p:cNvSpPr txBox="1"/>
            <p:nvPr/>
          </p:nvSpPr>
          <p:spPr>
            <a:xfrm>
              <a:off x="11201400" y="2997200"/>
              <a:ext cx="6096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TW" sz="3500" spc="-125" dirty="0">
                  <a:solidFill>
                    <a:srgbClr val="ECECEC"/>
                  </a:solidFill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5</a:t>
              </a:r>
            </a:p>
          </p:txBody>
        </p:sp>
      </p:grp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6370E28D-3F84-577D-22FE-F5837D377F59}"/>
              </a:ext>
            </a:extLst>
          </p:cNvPr>
          <p:cNvGrpSpPr/>
          <p:nvPr/>
        </p:nvGrpSpPr>
        <p:grpSpPr>
          <a:xfrm>
            <a:off x="11201400" y="4217753"/>
            <a:ext cx="4648200" cy="630942"/>
            <a:chOff x="11201400" y="3856742"/>
            <a:chExt cx="4648200" cy="630942"/>
          </a:xfrm>
        </p:grpSpPr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31DBC4A0-8B61-FD4D-6C9B-DFE6BBAA7E88}"/>
                </a:ext>
              </a:extLst>
            </p:cNvPr>
            <p:cNvSpPr txBox="1"/>
            <p:nvPr/>
          </p:nvSpPr>
          <p:spPr>
            <a:xfrm>
              <a:off x="12115800" y="3856742"/>
              <a:ext cx="37338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zh-TW" altLang="en-US" sz="3500" spc="-125" dirty="0">
                  <a:solidFill>
                    <a:srgbClr val="ECECEC"/>
                  </a:solidFill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互動流程</a:t>
              </a: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DDEB4F3D-EB4F-E35C-25CA-D61E3D5342B1}"/>
                </a:ext>
              </a:extLst>
            </p:cNvPr>
            <p:cNvSpPr txBox="1"/>
            <p:nvPr/>
          </p:nvSpPr>
          <p:spPr>
            <a:xfrm>
              <a:off x="11201400" y="3856742"/>
              <a:ext cx="6096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TW" sz="3500" spc="-125" dirty="0">
                  <a:solidFill>
                    <a:srgbClr val="ECECEC"/>
                  </a:solidFill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6</a:t>
              </a:r>
            </a:p>
          </p:txBody>
        </p:sp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97D2296C-3291-F2BE-7D60-990A3B8696EA}"/>
              </a:ext>
            </a:extLst>
          </p:cNvPr>
          <p:cNvGrpSpPr/>
          <p:nvPr/>
        </p:nvGrpSpPr>
        <p:grpSpPr>
          <a:xfrm>
            <a:off x="11201400" y="5438306"/>
            <a:ext cx="4648200" cy="630942"/>
            <a:chOff x="11201400" y="4716284"/>
            <a:chExt cx="4648200" cy="630942"/>
          </a:xfrm>
        </p:grpSpPr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DA4FA3C4-C42F-C9CB-19ED-7DF1CB77016A}"/>
                </a:ext>
              </a:extLst>
            </p:cNvPr>
            <p:cNvSpPr txBox="1"/>
            <p:nvPr/>
          </p:nvSpPr>
          <p:spPr>
            <a:xfrm>
              <a:off x="12115800" y="4716284"/>
              <a:ext cx="37338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zh-TW" altLang="en-US" sz="3500" spc="-125" dirty="0">
                  <a:solidFill>
                    <a:srgbClr val="ECECEC"/>
                  </a:solidFill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展場配置</a:t>
              </a: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23D414B7-0620-0F4A-20AE-18D5B3EE94AD}"/>
                </a:ext>
              </a:extLst>
            </p:cNvPr>
            <p:cNvSpPr txBox="1"/>
            <p:nvPr/>
          </p:nvSpPr>
          <p:spPr>
            <a:xfrm>
              <a:off x="11201400" y="4716284"/>
              <a:ext cx="6096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TW" sz="3500" spc="-125" dirty="0">
                  <a:solidFill>
                    <a:srgbClr val="ECECEC"/>
                  </a:solidFill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7</a:t>
              </a:r>
            </a:p>
          </p:txBody>
        </p: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FA5B91A8-6493-6881-5561-9FAFA18EFD56}"/>
              </a:ext>
            </a:extLst>
          </p:cNvPr>
          <p:cNvGrpSpPr/>
          <p:nvPr/>
        </p:nvGrpSpPr>
        <p:grpSpPr>
          <a:xfrm>
            <a:off x="11201400" y="6658859"/>
            <a:ext cx="4648200" cy="630942"/>
            <a:chOff x="11201400" y="6658859"/>
            <a:chExt cx="4648200" cy="630942"/>
          </a:xfrm>
        </p:grpSpPr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28773FA0-F5E7-675F-38C2-BD145DFE6235}"/>
                </a:ext>
              </a:extLst>
            </p:cNvPr>
            <p:cNvSpPr txBox="1"/>
            <p:nvPr/>
          </p:nvSpPr>
          <p:spPr>
            <a:xfrm>
              <a:off x="12115800" y="6658859"/>
              <a:ext cx="37338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zh-TW" altLang="en-US" sz="3500" spc="-125" dirty="0">
                  <a:solidFill>
                    <a:srgbClr val="ECECEC"/>
                  </a:solidFill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技術架構</a:t>
              </a:r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0AB9A09D-CB88-AC80-A2DA-95249E3CA781}"/>
                </a:ext>
              </a:extLst>
            </p:cNvPr>
            <p:cNvSpPr txBox="1"/>
            <p:nvPr/>
          </p:nvSpPr>
          <p:spPr>
            <a:xfrm>
              <a:off x="11201400" y="6658859"/>
              <a:ext cx="6096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TW" sz="3500" spc="-125" dirty="0">
                  <a:solidFill>
                    <a:srgbClr val="ECECEC"/>
                  </a:solidFill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/>
          <p:cNvSpPr>
            <a:spLocks/>
          </p:cNvSpPr>
          <p:nvPr/>
        </p:nvSpPr>
        <p:spPr>
          <a:xfrm>
            <a:off x="0" y="0"/>
            <a:ext cx="18283555" cy="10287000"/>
          </a:xfrm>
          <a:custGeom>
            <a:avLst/>
            <a:gdLst/>
            <a:ahLst/>
            <a:cxnLst/>
            <a:rect l="l" t="t" r="r" b="b"/>
            <a:pathLst>
              <a:path w="18283555" h="10287000">
                <a:moveTo>
                  <a:pt x="18283543" y="10287004"/>
                </a:moveTo>
                <a:lnTo>
                  <a:pt x="0" y="10287004"/>
                </a:lnTo>
                <a:lnTo>
                  <a:pt x="0" y="0"/>
                </a:lnTo>
                <a:lnTo>
                  <a:pt x="18283543" y="0"/>
                </a:lnTo>
                <a:lnTo>
                  <a:pt x="18283543" y="10287004"/>
                </a:lnTo>
                <a:close/>
              </a:path>
            </a:pathLst>
          </a:custGeom>
          <a:solidFill>
            <a:srgbClr val="000000">
              <a:alpha val="69999"/>
            </a:srgbClr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16000" y="993140"/>
            <a:ext cx="60706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TW" b="0" dirty="0">
                <a:solidFill>
                  <a:srgbClr val="FFCC00"/>
                </a:solidFill>
                <a:latin typeface="Zen Maru Gothic Medium" pitchFamily="2" charset="-120"/>
                <a:ea typeface="Zen Maru Gothic Medium" pitchFamily="2" charset="-120"/>
              </a:rPr>
              <a:t>Background</a:t>
            </a:r>
            <a:endParaRPr b="0" dirty="0">
              <a:solidFill>
                <a:srgbClr val="FFCC00"/>
              </a:solidFill>
              <a:latin typeface="Zen Maru Gothic Medium" pitchFamily="2" charset="-120"/>
              <a:ea typeface="Zen Maru Gothic Medium" pitchFamily="2" charset="-12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6000" y="2823325"/>
            <a:ext cx="14375765" cy="39522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TW" altLang="en-US" sz="3200" b="1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下貓</a:t>
            </a:r>
            <a:endParaRPr lang="en-US" sz="3200" b="1" dirty="0">
              <a:solidFill>
                <a:srgbClr val="FFFFFF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⼈類曾⽤想像替⼤⾬取名；如今，暴⾬正重新定義我們的世界。</a:t>
            </a:r>
            <a:endParaRPr sz="3200" dirty="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3200" dirty="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從英國的「下貓下狗」、葡萄牙的「下小刀」，到希臘的「掉椅子腿」</a:t>
            </a:r>
            <a:endParaRPr sz="28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——不同文化曾用天馬行空的幽默與敬畏，描繪各自天空下的暴雨。</a:t>
            </a:r>
            <a:endParaRPr sz="28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  <a:p>
            <a:pPr marL="12700" marR="5080">
              <a:lnSpc>
                <a:spcPts val="5030"/>
              </a:lnSpc>
              <a:spcBef>
                <a:spcPts val="240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然而，隨著全球暖化打破氣候平衡，極端降雨變得猛烈且頻繁。那些曾經荒謬誇張的語言隱喻，在今日，竟逐漸失去形容災難的尺度。</a:t>
            </a:r>
            <a:endParaRPr sz="28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D1EF2A4-EF95-DCFE-10A0-103F903A53AB}"/>
              </a:ext>
            </a:extLst>
          </p:cNvPr>
          <p:cNvSpPr txBox="1"/>
          <p:nvPr/>
        </p:nvSpPr>
        <p:spPr>
          <a:xfrm>
            <a:off x="1295400" y="7679117"/>
            <a:ext cx="9144000" cy="1098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l">
              <a:lnSpc>
                <a:spcPct val="150000"/>
              </a:lnSpc>
              <a:spcBef>
                <a:spcPts val="1490"/>
              </a:spcBef>
            </a:pPr>
            <a:r>
              <a:rPr lang="en-US" altLang="zh-TW" sz="1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It’s raining cats and dogs.</a:t>
            </a:r>
            <a:endParaRPr lang="en-US" altLang="zh-TW" sz="1800" dirty="0">
              <a:latin typeface="jf open 粉圓 2.1" panose="020B0500000000000000" pitchFamily="34" charset="-120"/>
              <a:ea typeface="jf open 粉圓 2.1" panose="020B0500000000000000" pitchFamily="34" charset="-120"/>
              <a:cs typeface="Trebuchet MS"/>
            </a:endParaRPr>
          </a:p>
          <a:p>
            <a:pPr marL="12700" algn="l">
              <a:lnSpc>
                <a:spcPct val="150000"/>
              </a:lnSpc>
              <a:spcBef>
                <a:spcPts val="1575"/>
              </a:spcBef>
            </a:pPr>
            <a:r>
              <a:rPr lang="zh-TW" altLang="en-US" sz="20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天上下貓和狗</a:t>
            </a:r>
            <a:endParaRPr lang="zh-TW" altLang="en-US" sz="20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15171F"/>
          </a:solidFill>
        </p:spPr>
        <p:txBody>
          <a:bodyPr wrap="square" lIns="0" tIns="0" rIns="0" bIns="0" rtlCol="0"/>
          <a:lstStyle/>
          <a:p>
            <a:endParaRPr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181099"/>
            <a:ext cx="1523999" cy="76199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latin typeface="Zen Maru Gothic Medium" pitchFamily="2" charset="-120"/>
                <a:ea typeface="Zen Maru Gothic Medium" pitchFamily="2" charset="-120"/>
                <a:cs typeface="Malgun Gothic"/>
              </a:rPr>
              <a:t>英國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16000" y="2756911"/>
            <a:ext cx="5994400" cy="1965666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algn="l">
              <a:lnSpc>
                <a:spcPct val="150000"/>
              </a:lnSpc>
              <a:spcBef>
                <a:spcPts val="1490"/>
              </a:spcBef>
            </a:pPr>
            <a:r>
              <a:rPr sz="35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It’s raining cats and dogs.</a:t>
            </a:r>
            <a:endParaRPr sz="3500" dirty="0">
              <a:latin typeface="jf open 粉圓 2.1" panose="020B0500000000000000" pitchFamily="34" charset="-120"/>
              <a:ea typeface="jf open 粉圓 2.1" panose="020B0500000000000000" pitchFamily="34" charset="-120"/>
              <a:cs typeface="Trebuchet MS"/>
            </a:endParaRPr>
          </a:p>
          <a:p>
            <a:pPr marL="12700" algn="l">
              <a:lnSpc>
                <a:spcPct val="150000"/>
              </a:lnSpc>
              <a:spcBef>
                <a:spcPts val="1575"/>
              </a:spcBef>
            </a:pPr>
            <a:r>
              <a:rPr sz="40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天上下貓和狗</a:t>
            </a:r>
            <a:endParaRPr sz="40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AA5B44CB-0F47-0410-F7EF-038B5BFEE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1181099"/>
            <a:ext cx="6362700" cy="6362700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0248E32E-4AFD-9A56-CD54-62E57642A2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577" y="1181099"/>
            <a:ext cx="4772025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610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/>
          <p:cNvSpPr>
            <a:spLocks/>
          </p:cNvSpPr>
          <p:nvPr/>
        </p:nvSpPr>
        <p:spPr>
          <a:xfrm>
            <a:off x="0" y="0"/>
            <a:ext cx="18283555" cy="10287000"/>
          </a:xfrm>
          <a:custGeom>
            <a:avLst/>
            <a:gdLst/>
            <a:ahLst/>
            <a:cxnLst/>
            <a:rect l="l" t="t" r="r" b="b"/>
            <a:pathLst>
              <a:path w="18283555" h="10287000">
                <a:moveTo>
                  <a:pt x="18283543" y="10287004"/>
                </a:moveTo>
                <a:lnTo>
                  <a:pt x="0" y="10287004"/>
                </a:lnTo>
                <a:lnTo>
                  <a:pt x="0" y="0"/>
                </a:lnTo>
                <a:lnTo>
                  <a:pt x="18283543" y="0"/>
                </a:lnTo>
                <a:lnTo>
                  <a:pt x="18283543" y="10287004"/>
                </a:lnTo>
                <a:close/>
              </a:path>
            </a:pathLst>
          </a:custGeom>
          <a:solidFill>
            <a:srgbClr val="000000">
              <a:alpha val="69999"/>
            </a:srgbClr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16000" y="993140"/>
            <a:ext cx="60706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TW" b="0" dirty="0">
                <a:solidFill>
                  <a:srgbClr val="FFCC00"/>
                </a:solidFill>
                <a:latin typeface="Zen Maru Gothic Medium" pitchFamily="2" charset="-120"/>
                <a:ea typeface="Zen Maru Gothic Medium" pitchFamily="2" charset="-120"/>
              </a:rPr>
              <a:t>WHY</a:t>
            </a:r>
            <a:endParaRPr b="0" dirty="0">
              <a:solidFill>
                <a:srgbClr val="FFCC00"/>
              </a:solidFill>
              <a:latin typeface="Zen Maru Gothic Medium" pitchFamily="2" charset="-120"/>
              <a:ea typeface="Zen Maru Gothic Medium" pitchFamily="2" charset="-12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6000" y="2823325"/>
            <a:ext cx="14375765" cy="887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TW" altLang="en-US" sz="28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台南高雄泰國下雨</a:t>
            </a:r>
            <a:endParaRPr lang="en-US" altLang="zh-TW" sz="2800" dirty="0">
              <a:solidFill>
                <a:schemeClr val="bg1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TW" altLang="en-US" sz="28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已經不是氣候變遷了，氣候已經失去控制，消費保護環境</a:t>
            </a:r>
            <a:endParaRPr sz="2800" dirty="0">
              <a:solidFill>
                <a:schemeClr val="bg1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D1EF2A4-EF95-DCFE-10A0-103F903A53AB}"/>
              </a:ext>
            </a:extLst>
          </p:cNvPr>
          <p:cNvSpPr txBox="1"/>
          <p:nvPr/>
        </p:nvSpPr>
        <p:spPr>
          <a:xfrm>
            <a:off x="1295400" y="7679117"/>
            <a:ext cx="9144000" cy="1098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l">
              <a:lnSpc>
                <a:spcPct val="150000"/>
              </a:lnSpc>
              <a:spcBef>
                <a:spcPts val="1490"/>
              </a:spcBef>
            </a:pPr>
            <a:r>
              <a:rPr lang="en-US" altLang="zh-TW" sz="1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It’s raining cats and dogs.</a:t>
            </a:r>
            <a:endParaRPr lang="en-US" altLang="zh-TW" sz="1800" dirty="0">
              <a:latin typeface="jf open 粉圓 2.1" panose="020B0500000000000000" pitchFamily="34" charset="-120"/>
              <a:ea typeface="jf open 粉圓 2.1" panose="020B0500000000000000" pitchFamily="34" charset="-120"/>
              <a:cs typeface="Trebuchet MS"/>
            </a:endParaRPr>
          </a:p>
          <a:p>
            <a:pPr marL="12700" algn="l">
              <a:lnSpc>
                <a:spcPct val="150000"/>
              </a:lnSpc>
              <a:spcBef>
                <a:spcPts val="1575"/>
              </a:spcBef>
            </a:pPr>
            <a:r>
              <a:rPr lang="zh-TW" altLang="en-US" sz="20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天上下貓和狗</a:t>
            </a:r>
            <a:endParaRPr lang="zh-TW" altLang="en-US" sz="20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</p:spTree>
    <p:extLst>
      <p:ext uri="{BB962C8B-B14F-4D97-AF65-F5344CB8AC3E}">
        <p14:creationId xmlns:p14="http://schemas.microsoft.com/office/powerpoint/2010/main" val="415789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6000" y="996950"/>
            <a:ext cx="61468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FFCC00"/>
                </a:solidFill>
                <a:latin typeface="Zen Maru Gothic Medium" pitchFamily="2" charset="-120"/>
                <a:ea typeface="Zen Maru Gothic Medium" pitchFamily="2" charset="-120"/>
              </a:rPr>
              <a:t>現況分析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716000" y="1020476"/>
            <a:ext cx="363754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SDGS 13 氣候行動</a:t>
            </a:r>
            <a:endParaRPr sz="28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400" y="2813224"/>
            <a:ext cx="133350" cy="1333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400" y="5022219"/>
            <a:ext cx="133350" cy="1333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400" y="7233909"/>
            <a:ext cx="133350" cy="13335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1602280" y="2644981"/>
            <a:ext cx="12470130" cy="5319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極端降雨常態化</a:t>
            </a:r>
          </a:p>
          <a:p>
            <a:pPr marL="12700">
              <a:lnSpc>
                <a:spcPct val="100000"/>
              </a:lnSpc>
              <a:spcBef>
                <a:spcPts val="4460"/>
              </a:spcBef>
            </a:pPr>
            <a:r>
              <a:rPr b="0" dirty="0">
                <a:solidFill>
                  <a:srgbClr val="ECECEC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全球暖化改變氣候平衡，極端降雨更加頻繁且猛烈。</a:t>
            </a: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b="0" dirty="0">
              <a:solidFill>
                <a:srgbClr val="ECECEC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  <a:p>
            <a:pPr marL="30480">
              <a:lnSpc>
                <a:spcPct val="100000"/>
              </a:lnSpc>
            </a:pPr>
            <a:r>
              <a:rPr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語言失去尺度</a:t>
            </a:r>
          </a:p>
          <a:p>
            <a:pPr marL="12700">
              <a:lnSpc>
                <a:spcPct val="100000"/>
              </a:lnSpc>
              <a:spcBef>
                <a:spcPts val="4485"/>
              </a:spcBef>
            </a:pPr>
            <a:r>
              <a:rPr b="0" dirty="0">
                <a:solidFill>
                  <a:srgbClr val="ECECEC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過去用來形容暴雨的誇張俚語，面對今日極端氣候，逐漸失去原本的想像尺度。</a:t>
            </a: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b="0" dirty="0">
              <a:solidFill>
                <a:srgbClr val="ECECEC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  <a:p>
            <a:pPr marL="30480">
              <a:lnSpc>
                <a:spcPct val="100000"/>
              </a:lnSpc>
            </a:pPr>
            <a:r>
              <a:rPr dirty="0"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全球共有的現實</a:t>
            </a:r>
          </a:p>
          <a:p>
            <a:pPr marL="12700">
              <a:lnSpc>
                <a:spcPct val="100000"/>
              </a:lnSpc>
              <a:spcBef>
                <a:spcPts val="4490"/>
              </a:spcBef>
            </a:pPr>
            <a:r>
              <a:rPr b="0" dirty="0">
                <a:solidFill>
                  <a:srgbClr val="ECECEC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暴雨不受國界限制，氣候危機是全人類共同面對的問題。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16000" y="993140"/>
            <a:ext cx="56896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FFCC00"/>
                </a:solidFill>
                <a:latin typeface="Zen Maru Gothic Medium" pitchFamily="2" charset="-120"/>
                <a:ea typeface="Zen Maru Gothic Medium" pitchFamily="2" charset="-120"/>
              </a:rPr>
              <a:t>核心概念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270344" y="2166505"/>
            <a:ext cx="1651000" cy="1395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文化語彙</a:t>
            </a:r>
            <a:endParaRPr sz="320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  <a:p>
            <a:pPr marL="22860" algn="ctr">
              <a:lnSpc>
                <a:spcPct val="100000"/>
              </a:lnSpc>
              <a:spcBef>
                <a:spcPts val="3585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↓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3981402"/>
            <a:ext cx="6781165" cy="18446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9600"/>
              </a:lnSpc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我們蒐集了世界各地描述暴雨的語言意象，將抽象的「雨之俚語」轉化為可被看見、 聽見與互動的視覺體驗。</a:t>
            </a:r>
            <a:endParaRPr sz="28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6000" y="7162977"/>
            <a:ext cx="87376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讓不同文化的「雨」，在同一個空間裡相遇。</a:t>
            </a:r>
            <a:endParaRPr sz="3000" dirty="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8067511"/>
            <a:ext cx="5994400" cy="55244"/>
            <a:chOff x="0" y="8067511"/>
            <a:chExt cx="5994400" cy="55244"/>
          </a:xfrm>
        </p:grpSpPr>
        <p:sp>
          <p:nvSpPr>
            <p:cNvPr id="10" name="object 10"/>
            <p:cNvSpPr/>
            <p:nvPr/>
          </p:nvSpPr>
          <p:spPr>
            <a:xfrm>
              <a:off x="0" y="8067511"/>
              <a:ext cx="94615" cy="38735"/>
            </a:xfrm>
            <a:custGeom>
              <a:avLst/>
              <a:gdLst/>
              <a:ahLst/>
              <a:cxnLst/>
              <a:rect l="l" t="t" r="r" b="b"/>
              <a:pathLst>
                <a:path w="94615" h="38734">
                  <a:moveTo>
                    <a:pt x="94024" y="38364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94131" y="264"/>
                  </a:lnTo>
                  <a:lnTo>
                    <a:pt x="94024" y="383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32124" y="8095172"/>
              <a:ext cx="5862320" cy="0"/>
            </a:xfrm>
            <a:custGeom>
              <a:avLst/>
              <a:gdLst/>
              <a:ahLst/>
              <a:cxnLst/>
              <a:rect l="l" t="t" r="r" b="b"/>
              <a:pathLst>
                <a:path w="5862320">
                  <a:moveTo>
                    <a:pt x="0" y="0"/>
                  </a:moveTo>
                  <a:lnTo>
                    <a:pt x="5862192" y="0"/>
                  </a:lnTo>
                </a:path>
              </a:pathLst>
            </a:custGeom>
            <a:ln w="54579">
              <a:solidFill>
                <a:srgbClr val="FFFF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270344" y="3980065"/>
            <a:ext cx="1651000" cy="4139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雨的意象</a:t>
            </a:r>
            <a:endParaRPr sz="320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  <a:p>
            <a:pPr marL="22860" algn="ctr">
              <a:lnSpc>
                <a:spcPct val="100000"/>
              </a:lnSpc>
              <a:spcBef>
                <a:spcPts val="3609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↓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  <a:p>
            <a:pPr algn="ctr">
              <a:lnSpc>
                <a:spcPct val="100000"/>
              </a:lnSpc>
              <a:spcBef>
                <a:spcPts val="3469"/>
              </a:spcBef>
            </a:pPr>
            <a:r>
              <a:rPr sz="32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動態視覺</a:t>
            </a:r>
            <a:endParaRPr sz="320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  <a:p>
            <a:pPr marL="22860" algn="ctr">
              <a:lnSpc>
                <a:spcPct val="100000"/>
              </a:lnSpc>
              <a:spcBef>
                <a:spcPts val="3609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↓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  <a:p>
            <a:pPr algn="ctr">
              <a:lnSpc>
                <a:spcPct val="100000"/>
              </a:lnSpc>
              <a:spcBef>
                <a:spcPts val="3460"/>
              </a:spcBef>
            </a:pPr>
            <a:r>
              <a:rPr sz="32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互動體驗</a:t>
            </a:r>
            <a:endParaRPr sz="320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11873" y="1028699"/>
            <a:ext cx="4991100" cy="8227695"/>
          </a:xfrm>
          <a:custGeom>
            <a:avLst/>
            <a:gdLst/>
            <a:ahLst/>
            <a:cxnLst/>
            <a:rect l="l" t="t" r="r" b="b"/>
            <a:pathLst>
              <a:path w="4991100" h="8227695">
                <a:moveTo>
                  <a:pt x="4547524" y="8227511"/>
                </a:moveTo>
                <a:lnTo>
                  <a:pt x="443575" y="8227511"/>
                </a:lnTo>
                <a:lnTo>
                  <a:pt x="437762" y="8227223"/>
                </a:lnTo>
                <a:lnTo>
                  <a:pt x="390563" y="8220180"/>
                </a:lnTo>
                <a:lnTo>
                  <a:pt x="344495" y="8208603"/>
                </a:lnTo>
                <a:lnTo>
                  <a:pt x="299877" y="8192624"/>
                </a:lnTo>
                <a:lnTo>
                  <a:pt x="257028" y="8172374"/>
                </a:lnTo>
                <a:lnTo>
                  <a:pt x="216266" y="8147985"/>
                </a:lnTo>
                <a:lnTo>
                  <a:pt x="177911" y="8119590"/>
                </a:lnTo>
                <a:lnTo>
                  <a:pt x="142280" y="8087319"/>
                </a:lnTo>
                <a:lnTo>
                  <a:pt x="110010" y="8051686"/>
                </a:lnTo>
                <a:lnTo>
                  <a:pt x="81615" y="8013329"/>
                </a:lnTo>
                <a:lnTo>
                  <a:pt x="57227" y="7972566"/>
                </a:lnTo>
                <a:lnTo>
                  <a:pt x="36977" y="7929715"/>
                </a:lnTo>
                <a:lnTo>
                  <a:pt x="20997" y="7885095"/>
                </a:lnTo>
                <a:lnTo>
                  <a:pt x="9420" y="7839025"/>
                </a:lnTo>
                <a:lnTo>
                  <a:pt x="2377" y="7791824"/>
                </a:lnTo>
                <a:lnTo>
                  <a:pt x="0" y="7743810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5" y="20997"/>
                </a:lnTo>
                <a:lnTo>
                  <a:pt x="390563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4505323" y="0"/>
                </a:lnTo>
                <a:lnTo>
                  <a:pt x="4553337" y="2377"/>
                </a:lnTo>
                <a:lnTo>
                  <a:pt x="4600538" y="9420"/>
                </a:lnTo>
                <a:lnTo>
                  <a:pt x="4646608" y="20997"/>
                </a:lnTo>
                <a:lnTo>
                  <a:pt x="4691228" y="36977"/>
                </a:lnTo>
                <a:lnTo>
                  <a:pt x="4734079" y="57227"/>
                </a:lnTo>
                <a:lnTo>
                  <a:pt x="4774842" y="81615"/>
                </a:lnTo>
                <a:lnTo>
                  <a:pt x="4813199" y="110010"/>
                </a:lnTo>
                <a:lnTo>
                  <a:pt x="4848832" y="142280"/>
                </a:lnTo>
                <a:lnTo>
                  <a:pt x="4881094" y="177911"/>
                </a:lnTo>
                <a:lnTo>
                  <a:pt x="4909486" y="216266"/>
                </a:lnTo>
                <a:lnTo>
                  <a:pt x="4933874" y="257028"/>
                </a:lnTo>
                <a:lnTo>
                  <a:pt x="4954125" y="299876"/>
                </a:lnTo>
                <a:lnTo>
                  <a:pt x="4970108" y="344494"/>
                </a:lnTo>
                <a:lnTo>
                  <a:pt x="4981689" y="390562"/>
                </a:lnTo>
                <a:lnTo>
                  <a:pt x="4988735" y="437762"/>
                </a:lnTo>
                <a:lnTo>
                  <a:pt x="4991096" y="485775"/>
                </a:lnTo>
                <a:lnTo>
                  <a:pt x="4991096" y="7743810"/>
                </a:lnTo>
                <a:lnTo>
                  <a:pt x="4988735" y="7791824"/>
                </a:lnTo>
                <a:lnTo>
                  <a:pt x="4981689" y="7839025"/>
                </a:lnTo>
                <a:lnTo>
                  <a:pt x="4970108" y="7885095"/>
                </a:lnTo>
                <a:lnTo>
                  <a:pt x="4954125" y="7929715"/>
                </a:lnTo>
                <a:lnTo>
                  <a:pt x="4933874" y="7972566"/>
                </a:lnTo>
                <a:lnTo>
                  <a:pt x="4909486" y="8013329"/>
                </a:lnTo>
                <a:lnTo>
                  <a:pt x="4881094" y="8051686"/>
                </a:lnTo>
                <a:lnTo>
                  <a:pt x="4848832" y="8087319"/>
                </a:lnTo>
                <a:lnTo>
                  <a:pt x="4813199" y="8119590"/>
                </a:lnTo>
                <a:lnTo>
                  <a:pt x="4774842" y="8147985"/>
                </a:lnTo>
                <a:lnTo>
                  <a:pt x="4734079" y="8172374"/>
                </a:lnTo>
                <a:lnTo>
                  <a:pt x="4691228" y="8192624"/>
                </a:lnTo>
                <a:lnTo>
                  <a:pt x="4646608" y="8208603"/>
                </a:lnTo>
                <a:lnTo>
                  <a:pt x="4600538" y="8220180"/>
                </a:lnTo>
                <a:lnTo>
                  <a:pt x="4553337" y="8227223"/>
                </a:lnTo>
                <a:lnTo>
                  <a:pt x="4547524" y="8227511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8283555" cy="10287000"/>
            </a:xfrm>
            <a:custGeom>
              <a:avLst/>
              <a:gdLst/>
              <a:ahLst/>
              <a:cxnLst/>
              <a:rect l="l" t="t" r="r" b="b"/>
              <a:pathLst>
                <a:path w="18283555" h="10287000">
                  <a:moveTo>
                    <a:pt x="18283543" y="10287004"/>
                  </a:moveTo>
                  <a:lnTo>
                    <a:pt x="0" y="10287004"/>
                  </a:lnTo>
                  <a:lnTo>
                    <a:pt x="0" y="0"/>
                  </a:lnTo>
                  <a:lnTo>
                    <a:pt x="18283543" y="0"/>
                  </a:lnTo>
                  <a:lnTo>
                    <a:pt x="18283543" y="10287004"/>
                  </a:lnTo>
                  <a:close/>
                </a:path>
              </a:pathLst>
            </a:custGeom>
            <a:solidFill>
              <a:srgbClr val="000000">
                <a:alpha val="34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2081" y="6204456"/>
              <a:ext cx="2381243" cy="238124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36275" y="2647852"/>
              <a:ext cx="2381249" cy="23812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70474" y="2647852"/>
              <a:ext cx="2381249" cy="2381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604674" y="2640192"/>
              <a:ext cx="2381249" cy="23812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604674" y="6196797"/>
              <a:ext cx="2381249" cy="238124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70474" y="6204456"/>
              <a:ext cx="2381249" cy="238124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36275" y="6204456"/>
              <a:ext cx="2381249" cy="2381240"/>
            </a:xfrm>
            <a:prstGeom prst="rect">
              <a:avLst/>
            </a:prstGeom>
          </p:spPr>
        </p:pic>
      </p:grp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1016000" y="977838"/>
            <a:ext cx="68326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lnSpc>
                <a:spcPct val="100000"/>
              </a:lnSpc>
              <a:tabLst>
                <a:tab pos="0" algn="l"/>
              </a:tabLst>
            </a:pPr>
            <a:r>
              <a:rPr lang="zh-TW" altLang="en-US" b="0" dirty="0">
                <a:solidFill>
                  <a:srgbClr val="FFCC00"/>
                </a:solidFill>
                <a:latin typeface="Zen Maru Gothic Medium" pitchFamily="2" charset="-120"/>
                <a:ea typeface="Zen Maru Gothic Medium" pitchFamily="2" charset="-120"/>
              </a:rPr>
              <a:t>俚雨設計</a:t>
            </a: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02081" y="2640192"/>
            <a:ext cx="2381243" cy="238123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162419" y="5222477"/>
            <a:ext cx="998744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英國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96619" y="5237779"/>
            <a:ext cx="1027582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希臘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030818" y="5237779"/>
            <a:ext cx="998744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法國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465017" y="5237779"/>
            <a:ext cx="1022775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瑞典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03771" y="8786748"/>
            <a:ext cx="1491866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葡萄牙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96618" y="8786748"/>
            <a:ext cx="1020853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南非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030818" y="8802050"/>
            <a:ext cx="1014124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波蘭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65018" y="8794399"/>
            <a:ext cx="1010279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巴西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>
            <a:grpSpLocks noGrp="1" noUngrp="1" noRot="1" noMove="1" noResize="1"/>
          </p:cNvGrpSpPr>
          <p:nvPr/>
        </p:nvGrpSpPr>
        <p:grpSpPr>
          <a:xfrm>
            <a:off x="28575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sp>
          <p:nvSpPr>
            <p:cNvPr id="4" name="object 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8283555" cy="10287000"/>
            </a:xfrm>
            <a:custGeom>
              <a:avLst/>
              <a:gdLst/>
              <a:ahLst/>
              <a:cxnLst/>
              <a:rect l="l" t="t" r="r" b="b"/>
              <a:pathLst>
                <a:path w="18283555" h="10287000">
                  <a:moveTo>
                    <a:pt x="18283543" y="10287004"/>
                  </a:moveTo>
                  <a:lnTo>
                    <a:pt x="0" y="10287004"/>
                  </a:lnTo>
                  <a:lnTo>
                    <a:pt x="0" y="0"/>
                  </a:lnTo>
                  <a:lnTo>
                    <a:pt x="18283543" y="0"/>
                  </a:lnTo>
                  <a:lnTo>
                    <a:pt x="18283543" y="10287004"/>
                  </a:lnTo>
                  <a:close/>
                </a:path>
              </a:pathLst>
            </a:custGeom>
            <a:solidFill>
              <a:srgbClr val="000000">
                <a:alpha val="34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pic>
          <p:nvPicPr>
            <p:cNvPr id="5" name="object 5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2081" y="6204456"/>
              <a:ext cx="2381243" cy="2381240"/>
            </a:xfrm>
            <a:prstGeom prst="rect">
              <a:avLst/>
            </a:prstGeom>
          </p:spPr>
        </p:pic>
        <p:pic>
          <p:nvPicPr>
            <p:cNvPr id="7" name="object 7"/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70474" y="2647852"/>
              <a:ext cx="2381249" cy="2381250"/>
            </a:xfrm>
            <a:prstGeom prst="rect">
              <a:avLst/>
            </a:prstGeom>
          </p:spPr>
        </p:pic>
        <p:pic>
          <p:nvPicPr>
            <p:cNvPr id="9" name="object 9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604674" y="6196797"/>
              <a:ext cx="2381249" cy="2381247"/>
            </a:xfrm>
            <a:prstGeom prst="rect">
              <a:avLst/>
            </a:prstGeom>
          </p:spPr>
        </p:pic>
        <p:pic>
          <p:nvPicPr>
            <p:cNvPr id="10" name="object 10"/>
            <p:cNvPicPr>
              <a:picLocks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70474" y="6204456"/>
              <a:ext cx="2381249" cy="2381240"/>
            </a:xfrm>
            <a:prstGeom prst="rect">
              <a:avLst/>
            </a:prstGeom>
          </p:spPr>
        </p:pic>
      </p:grp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1016000" y="977838"/>
            <a:ext cx="68326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lnSpc>
                <a:spcPct val="100000"/>
              </a:lnSpc>
              <a:tabLst>
                <a:tab pos="0" algn="l"/>
              </a:tabLst>
            </a:pPr>
            <a:r>
              <a:rPr lang="zh-TW" altLang="en-US" b="0" dirty="0">
                <a:solidFill>
                  <a:srgbClr val="FFCC00"/>
                </a:solidFill>
                <a:latin typeface="Zen Maru Gothic Medium" pitchFamily="2" charset="-120"/>
                <a:ea typeface="Zen Maru Gothic Medium" pitchFamily="2" charset="-120"/>
              </a:rPr>
              <a:t>俚雨設計</a:t>
            </a:r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CD8F92DD-70A2-9C54-2F5E-05712B9F0E83}"/>
              </a:ext>
            </a:extLst>
          </p:cNvPr>
          <p:cNvGrpSpPr/>
          <p:nvPr/>
        </p:nvGrpSpPr>
        <p:grpSpPr>
          <a:xfrm>
            <a:off x="1302081" y="2640192"/>
            <a:ext cx="2381243" cy="3038215"/>
            <a:chOff x="1302081" y="2640192"/>
            <a:chExt cx="2381243" cy="3038215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2081" y="2640192"/>
              <a:ext cx="2381243" cy="2381234"/>
            </a:xfrm>
            <a:prstGeom prst="rect">
              <a:avLst/>
            </a:prstGeom>
          </p:spPr>
        </p:pic>
        <p:sp>
          <p:nvSpPr>
            <p:cNvPr id="14" name="object 14"/>
            <p:cNvSpPr txBox="1"/>
            <p:nvPr/>
          </p:nvSpPr>
          <p:spPr>
            <a:xfrm>
              <a:off x="2162419" y="5222477"/>
              <a:ext cx="998744" cy="45593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2800" dirty="0">
                  <a:solidFill>
                    <a:srgbClr val="FFFFFF"/>
                  </a:solidFill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HK Thin"/>
                </a:rPr>
                <a:t>英國</a:t>
              </a:r>
              <a:endParaRPr sz="2800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030818" y="5222477"/>
            <a:ext cx="998744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法國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03771" y="8786748"/>
            <a:ext cx="1491866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葡萄牙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030818" y="8802050"/>
            <a:ext cx="1014124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波蘭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65018" y="8794399"/>
            <a:ext cx="1010279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巴西</a:t>
            </a:r>
            <a:endParaRPr sz="28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</p:spTree>
    <p:extLst>
      <p:ext uri="{BB962C8B-B14F-4D97-AF65-F5344CB8AC3E}">
        <p14:creationId xmlns:p14="http://schemas.microsoft.com/office/powerpoint/2010/main" val="324344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15171F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181099"/>
            <a:ext cx="1523999" cy="76199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latin typeface="Zen Maru Gothic Medium" pitchFamily="2" charset="-120"/>
                <a:ea typeface="Zen Maru Gothic Medium" pitchFamily="2" charset="-120"/>
                <a:cs typeface="Malgun Gothic"/>
              </a:rPr>
              <a:t>英國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16000" y="2756911"/>
            <a:ext cx="5994400" cy="1965666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algn="l">
              <a:lnSpc>
                <a:spcPct val="150000"/>
              </a:lnSpc>
              <a:spcBef>
                <a:spcPts val="1490"/>
              </a:spcBef>
            </a:pPr>
            <a:r>
              <a:rPr sz="35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It’s raining cats and dogs.</a:t>
            </a:r>
            <a:endParaRPr sz="3500" dirty="0">
              <a:latin typeface="jf open 粉圓 2.1" panose="020B0500000000000000" pitchFamily="34" charset="-120"/>
              <a:ea typeface="jf open 粉圓 2.1" panose="020B0500000000000000" pitchFamily="34" charset="-120"/>
              <a:cs typeface="Trebuchet MS"/>
            </a:endParaRPr>
          </a:p>
          <a:p>
            <a:pPr marL="12700" algn="l">
              <a:lnSpc>
                <a:spcPct val="150000"/>
              </a:lnSpc>
              <a:spcBef>
                <a:spcPts val="1575"/>
              </a:spcBef>
            </a:pPr>
            <a:r>
              <a:rPr sz="40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天上下貓和狗</a:t>
            </a:r>
            <a:endParaRPr sz="40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5089032"/>
            <a:ext cx="4267199" cy="41719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362" y="2980998"/>
            <a:ext cx="10077449" cy="627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277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857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15171F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649" y="1092561"/>
            <a:ext cx="1247774" cy="94297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25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希臘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16000" y="2756911"/>
            <a:ext cx="4880610" cy="196252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>
            <a:defPPr>
              <a:defRPr kern="0"/>
            </a:defPPr>
            <a:lvl1pPr marL="12700" algn="l">
              <a:lnSpc>
                <a:spcPct val="150000"/>
              </a:lnSpc>
              <a:spcBef>
                <a:spcPts val="1490"/>
              </a:spcBef>
              <a:defRPr sz="350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defRPr>
            </a:lvl1pPr>
          </a:lstStyle>
          <a:p>
            <a:r>
              <a:rPr dirty="0"/>
              <a:t>Ρίχνει καρεκλοπόδαρα.</a:t>
            </a:r>
          </a:p>
          <a:p>
            <a:r>
              <a:rPr sz="4000" dirty="0" err="1"/>
              <a:t>天上下「椅</a:t>
            </a:r>
            <a:r>
              <a:rPr lang="zh-TW" altLang="en-US" sz="4000" dirty="0"/>
              <a:t>子</a:t>
            </a:r>
            <a:r>
              <a:rPr sz="4000" dirty="0"/>
              <a:t>腿」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5086044"/>
            <a:ext cx="4270095" cy="41722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362" y="2981004"/>
            <a:ext cx="10077937" cy="62772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15171F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362" y="1076596"/>
            <a:ext cx="1295399" cy="971549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latin typeface="Zen Maru Gothic Medium" pitchFamily="2" charset="-120"/>
                <a:ea typeface="Zen Maru Gothic Medium" pitchFamily="2" charset="-120"/>
              </a:rPr>
              <a:t>法國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16000" y="2756911"/>
            <a:ext cx="7747000" cy="196252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>
            <a:defPPr>
              <a:defRPr kern="0"/>
            </a:defPPr>
            <a:lvl1pPr marL="12700" algn="l">
              <a:lnSpc>
                <a:spcPct val="150000"/>
              </a:lnSpc>
              <a:spcBef>
                <a:spcPts val="1490"/>
              </a:spcBef>
              <a:defRPr sz="350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defRPr>
            </a:lvl1pPr>
          </a:lstStyle>
          <a:p>
            <a:r>
              <a:rPr dirty="0"/>
              <a:t>Il pleut des cordes.</a:t>
            </a:r>
          </a:p>
          <a:p>
            <a:r>
              <a:rPr sz="4000" dirty="0" err="1"/>
              <a:t>天上下「繩</a:t>
            </a:r>
            <a:r>
              <a:rPr lang="zh-TW" altLang="en-US" sz="4000" dirty="0"/>
              <a:t>子</a:t>
            </a:r>
            <a:r>
              <a:rPr sz="4000" dirty="0"/>
              <a:t>」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FBDD838D-4F9F-98D9-8E27-76290C81DA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1035050"/>
            <a:ext cx="90678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15171F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362" y="1076596"/>
            <a:ext cx="1295399" cy="971549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latin typeface="Zen Maru Gothic Medium" pitchFamily="2" charset="-120"/>
                <a:ea typeface="Zen Maru Gothic Medium" pitchFamily="2" charset="-120"/>
              </a:rPr>
              <a:t>法國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16000" y="2756911"/>
            <a:ext cx="7747000" cy="196252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>
            <a:defPPr>
              <a:defRPr kern="0"/>
            </a:defPPr>
            <a:lvl1pPr marL="12700" algn="l">
              <a:lnSpc>
                <a:spcPct val="150000"/>
              </a:lnSpc>
              <a:spcBef>
                <a:spcPts val="1490"/>
              </a:spcBef>
              <a:defRPr sz="350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defRPr>
            </a:lvl1pPr>
          </a:lstStyle>
          <a:p>
            <a:r>
              <a:rPr dirty="0"/>
              <a:t>Il pleut des cordes.</a:t>
            </a:r>
          </a:p>
          <a:p>
            <a:r>
              <a:rPr sz="4000" dirty="0" err="1"/>
              <a:t>天上下「繩</a:t>
            </a:r>
            <a:r>
              <a:rPr lang="zh-TW" altLang="en-US" sz="4000" dirty="0"/>
              <a:t>子</a:t>
            </a:r>
            <a:r>
              <a:rPr sz="4000" dirty="0"/>
              <a:t>」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131300" y="4776216"/>
            <a:ext cx="93408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spc="-42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細繩</a:t>
            </a:r>
            <a:endParaRPr sz="395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85473" y="2047603"/>
            <a:ext cx="6272296" cy="352901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5086014"/>
            <a:ext cx="4270095" cy="417228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131300" y="8629070"/>
            <a:ext cx="137858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spc="-44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粗麻繩</a:t>
            </a:r>
            <a:endParaRPr sz="395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20510" y="5805230"/>
            <a:ext cx="6137300" cy="345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083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15171F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74502" y="1114475"/>
            <a:ext cx="447040" cy="358140"/>
          </a:xfrm>
          <a:custGeom>
            <a:avLst/>
            <a:gdLst/>
            <a:ahLst/>
            <a:cxnLst/>
            <a:rect l="l" t="t" r="r" b="b"/>
            <a:pathLst>
              <a:path w="447040" h="358140">
                <a:moveTo>
                  <a:pt x="0" y="358140"/>
                </a:moveTo>
                <a:lnTo>
                  <a:pt x="446483" y="358140"/>
                </a:lnTo>
                <a:lnTo>
                  <a:pt x="446483" y="0"/>
                </a:lnTo>
                <a:lnTo>
                  <a:pt x="0" y="0"/>
                </a:lnTo>
                <a:lnTo>
                  <a:pt x="0" y="358140"/>
                </a:lnTo>
                <a:close/>
              </a:path>
            </a:pathLst>
          </a:custGeom>
          <a:solidFill>
            <a:srgbClr val="0059AC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74502" y="1651686"/>
            <a:ext cx="447040" cy="358140"/>
          </a:xfrm>
          <a:custGeom>
            <a:avLst/>
            <a:gdLst/>
            <a:ahLst/>
            <a:cxnLst/>
            <a:rect l="l" t="t" r="r" b="b"/>
            <a:pathLst>
              <a:path w="447040" h="358139">
                <a:moveTo>
                  <a:pt x="0" y="358139"/>
                </a:moveTo>
                <a:lnTo>
                  <a:pt x="446483" y="358139"/>
                </a:lnTo>
                <a:lnTo>
                  <a:pt x="446483" y="0"/>
                </a:lnTo>
                <a:lnTo>
                  <a:pt x="0" y="0"/>
                </a:lnTo>
                <a:lnTo>
                  <a:pt x="0" y="358139"/>
                </a:lnTo>
                <a:close/>
              </a:path>
            </a:pathLst>
          </a:custGeom>
          <a:solidFill>
            <a:srgbClr val="0059AC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99578" y="1651686"/>
            <a:ext cx="803910" cy="358140"/>
          </a:xfrm>
          <a:custGeom>
            <a:avLst/>
            <a:gdLst/>
            <a:ahLst/>
            <a:cxnLst/>
            <a:rect l="l" t="t" r="r" b="b"/>
            <a:pathLst>
              <a:path w="803910" h="358139">
                <a:moveTo>
                  <a:pt x="0" y="358139"/>
                </a:moveTo>
                <a:lnTo>
                  <a:pt x="803669" y="358139"/>
                </a:lnTo>
                <a:lnTo>
                  <a:pt x="803669" y="0"/>
                </a:lnTo>
                <a:lnTo>
                  <a:pt x="0" y="0"/>
                </a:lnTo>
                <a:lnTo>
                  <a:pt x="0" y="358139"/>
                </a:lnTo>
                <a:close/>
              </a:path>
            </a:pathLst>
          </a:custGeom>
          <a:solidFill>
            <a:srgbClr val="0059AC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74502" y="1114475"/>
            <a:ext cx="1428750" cy="895350"/>
            <a:chOff x="1074502" y="1114475"/>
            <a:chExt cx="1428750" cy="895350"/>
          </a:xfrm>
        </p:grpSpPr>
        <p:sp>
          <p:nvSpPr>
            <p:cNvPr id="13" name="object 13"/>
            <p:cNvSpPr/>
            <p:nvPr/>
          </p:nvSpPr>
          <p:spPr>
            <a:xfrm>
              <a:off x="1699578" y="1114475"/>
              <a:ext cx="803910" cy="358140"/>
            </a:xfrm>
            <a:custGeom>
              <a:avLst/>
              <a:gdLst/>
              <a:ahLst/>
              <a:cxnLst/>
              <a:rect l="l" t="t" r="r" b="b"/>
              <a:pathLst>
                <a:path w="803910" h="358140">
                  <a:moveTo>
                    <a:pt x="0" y="358140"/>
                  </a:moveTo>
                  <a:lnTo>
                    <a:pt x="803669" y="358140"/>
                  </a:lnTo>
                  <a:lnTo>
                    <a:pt x="803669" y="0"/>
                  </a:lnTo>
                  <a:lnTo>
                    <a:pt x="0" y="0"/>
                  </a:lnTo>
                  <a:lnTo>
                    <a:pt x="0" y="358140"/>
                  </a:lnTo>
                  <a:close/>
                </a:path>
              </a:pathLst>
            </a:custGeom>
            <a:solidFill>
              <a:srgbClr val="0059AC"/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074496" y="1114487"/>
              <a:ext cx="1428750" cy="895350"/>
            </a:xfrm>
            <a:custGeom>
              <a:avLst/>
              <a:gdLst/>
              <a:ahLst/>
              <a:cxnLst/>
              <a:rect l="l" t="t" r="r" b="b"/>
              <a:pathLst>
                <a:path w="1428750" h="895350">
                  <a:moveTo>
                    <a:pt x="1428750" y="358140"/>
                  </a:moveTo>
                  <a:lnTo>
                    <a:pt x="625081" y="358140"/>
                  </a:lnTo>
                  <a:lnTo>
                    <a:pt x="625081" y="0"/>
                  </a:lnTo>
                  <a:lnTo>
                    <a:pt x="446481" y="0"/>
                  </a:lnTo>
                  <a:lnTo>
                    <a:pt x="446481" y="358140"/>
                  </a:lnTo>
                  <a:lnTo>
                    <a:pt x="0" y="358140"/>
                  </a:lnTo>
                  <a:lnTo>
                    <a:pt x="0" y="537210"/>
                  </a:lnTo>
                  <a:lnTo>
                    <a:pt x="446481" y="537210"/>
                  </a:lnTo>
                  <a:lnTo>
                    <a:pt x="446481" y="895350"/>
                  </a:lnTo>
                  <a:lnTo>
                    <a:pt x="625081" y="895350"/>
                  </a:lnTo>
                  <a:lnTo>
                    <a:pt x="625081" y="537210"/>
                  </a:lnTo>
                  <a:lnTo>
                    <a:pt x="1428750" y="537210"/>
                  </a:lnTo>
                  <a:lnTo>
                    <a:pt x="1428750" y="358140"/>
                  </a:lnTo>
                  <a:close/>
                </a:path>
              </a:pathLst>
            </a:custGeom>
            <a:solidFill>
              <a:srgbClr val="FFC200"/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latin typeface="Zen Maru Gothic Medium" pitchFamily="2" charset="-120"/>
                <a:ea typeface="Zen Maru Gothic Medium" pitchFamily="2" charset="-120"/>
              </a:rPr>
              <a:t>瑞典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16000" y="2756911"/>
            <a:ext cx="6070600" cy="196252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>
            <a:defPPr>
              <a:defRPr kern="0"/>
            </a:defPPr>
            <a:lvl1pPr marL="12700" algn="l">
              <a:lnSpc>
                <a:spcPct val="150000"/>
              </a:lnSpc>
              <a:spcBef>
                <a:spcPts val="1490"/>
              </a:spcBef>
              <a:defRPr sz="350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defRPr>
            </a:lvl1pPr>
          </a:lstStyle>
          <a:p>
            <a:r>
              <a:rPr dirty="0"/>
              <a:t>Det regnar småspik.</a:t>
            </a:r>
          </a:p>
          <a:p>
            <a:r>
              <a:rPr sz="4000" dirty="0" err="1"/>
              <a:t>天上下</a:t>
            </a:r>
            <a:r>
              <a:rPr sz="4000" dirty="0"/>
              <a:t>「</a:t>
            </a:r>
            <a:r>
              <a:rPr lang="zh-TW" altLang="en-US" sz="4000" dirty="0"/>
              <a:t>小</a:t>
            </a:r>
            <a:r>
              <a:rPr sz="4000" dirty="0"/>
              <a:t>釘</a:t>
            </a:r>
            <a:r>
              <a:rPr lang="zh-TW" altLang="en-US" sz="4000" dirty="0"/>
              <a:t>子</a:t>
            </a:r>
            <a:r>
              <a:rPr sz="4000" dirty="0"/>
              <a:t>」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5086014"/>
            <a:ext cx="4270065" cy="417228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81362" y="2981004"/>
            <a:ext cx="10077937" cy="62772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5999" y="1058960"/>
            <a:ext cx="1510676" cy="1009650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2851749" y="1035050"/>
            <a:ext cx="23114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Zen Maru Gothic Medium" pitchFamily="2" charset="-120"/>
                <a:ea typeface="Zen Maru Gothic Medium" pitchFamily="2" charset="-120"/>
              </a:rPr>
              <a:t>葡萄牙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16000" y="2756911"/>
            <a:ext cx="6908800" cy="196252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>
            <a:defPPr>
              <a:defRPr kern="0"/>
            </a:defPPr>
            <a:lvl1pPr marL="12700" algn="l">
              <a:lnSpc>
                <a:spcPct val="150000"/>
              </a:lnSpc>
              <a:spcBef>
                <a:spcPts val="1490"/>
              </a:spcBef>
              <a:defRPr sz="350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defRPr>
            </a:lvl1pPr>
          </a:lstStyle>
          <a:p>
            <a:r>
              <a:rPr dirty="0"/>
              <a:t>Está chovendo canivetes.</a:t>
            </a:r>
          </a:p>
          <a:p>
            <a:r>
              <a:rPr sz="4000" dirty="0" err="1"/>
              <a:t>天上下</a:t>
            </a:r>
            <a:r>
              <a:rPr sz="4000" dirty="0"/>
              <a:t>「</a:t>
            </a:r>
            <a:r>
              <a:rPr lang="zh-TW" altLang="en-US" sz="4000" dirty="0"/>
              <a:t>小刀</a:t>
            </a:r>
            <a:r>
              <a:rPr sz="4000" dirty="0"/>
              <a:t>」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A9DD7F23-7D20-FDF2-69F8-7AAB61149A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1006850"/>
            <a:ext cx="735330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5999" y="1058960"/>
            <a:ext cx="1510676" cy="1009650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2851749" y="1035050"/>
            <a:ext cx="23114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Zen Maru Gothic Medium" pitchFamily="2" charset="-120"/>
                <a:ea typeface="Zen Maru Gothic Medium" pitchFamily="2" charset="-120"/>
              </a:rPr>
              <a:t>葡萄牙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16000" y="2756911"/>
            <a:ext cx="6908800" cy="196252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>
            <a:defPPr>
              <a:defRPr kern="0"/>
            </a:defPPr>
            <a:lvl1pPr marL="12700" algn="l">
              <a:lnSpc>
                <a:spcPct val="150000"/>
              </a:lnSpc>
              <a:spcBef>
                <a:spcPts val="1490"/>
              </a:spcBef>
              <a:defRPr sz="350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defRPr>
            </a:lvl1pPr>
          </a:lstStyle>
          <a:p>
            <a:r>
              <a:rPr dirty="0"/>
              <a:t>Está chovendo canivetes.</a:t>
            </a:r>
          </a:p>
          <a:p>
            <a:r>
              <a:rPr sz="4000" dirty="0" err="1"/>
              <a:t>天上下</a:t>
            </a:r>
            <a:r>
              <a:rPr sz="4000" dirty="0"/>
              <a:t>「</a:t>
            </a:r>
            <a:r>
              <a:rPr lang="zh-TW" altLang="en-US" sz="4000" dirty="0"/>
              <a:t>小刀</a:t>
            </a:r>
            <a:r>
              <a:rPr sz="4000" dirty="0"/>
              <a:t>」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5086014"/>
            <a:ext cx="4270095" cy="417228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362" y="2981004"/>
            <a:ext cx="10077937" cy="627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489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3868" y="1114476"/>
            <a:ext cx="1190624" cy="895349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latin typeface="Zen Maru Gothic Medium" pitchFamily="2" charset="-120"/>
                <a:ea typeface="Zen Maru Gothic Medium" pitchFamily="2" charset="-120"/>
              </a:rPr>
              <a:t>南非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5086014"/>
            <a:ext cx="4270065" cy="417228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362" y="2980998"/>
            <a:ext cx="10077937" cy="62757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850900" y="2892099"/>
            <a:ext cx="8117840" cy="1482725"/>
          </a:xfrm>
          <a:custGeom>
            <a:avLst/>
            <a:gdLst/>
            <a:ahLst/>
            <a:cxnLst/>
            <a:rect l="l" t="t" r="r" b="b"/>
            <a:pathLst>
              <a:path w="8117840" h="1482725">
                <a:moveTo>
                  <a:pt x="8117734" y="1482721"/>
                </a:moveTo>
                <a:lnTo>
                  <a:pt x="0" y="1482721"/>
                </a:lnTo>
                <a:lnTo>
                  <a:pt x="0" y="0"/>
                </a:lnTo>
                <a:lnTo>
                  <a:pt x="8117734" y="0"/>
                </a:lnTo>
                <a:lnTo>
                  <a:pt x="8117734" y="14827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6000" y="2756911"/>
            <a:ext cx="8661400" cy="1975284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490"/>
              </a:spcBef>
            </a:pPr>
            <a:r>
              <a:rPr sz="35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Dit reën ou vrouens met knopkieries.</a:t>
            </a:r>
            <a:endParaRPr sz="3500" dirty="0">
              <a:latin typeface="jf open 粉圓 2.1" panose="020B0500000000000000" pitchFamily="34" charset="-120"/>
              <a:ea typeface="jf open 粉圓 2.1" panose="020B0500000000000000" pitchFamily="34" charset="-120"/>
              <a:cs typeface="Trebuchet MS"/>
            </a:endParaRPr>
          </a:p>
          <a:p>
            <a:pPr marL="12700">
              <a:lnSpc>
                <a:spcPct val="150000"/>
              </a:lnSpc>
              <a:spcBef>
                <a:spcPts val="1575"/>
              </a:spcBef>
            </a:pPr>
            <a:r>
              <a:rPr sz="40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天上下「拿著棍棒的老太太」</a:t>
            </a:r>
            <a:endParaRPr sz="40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15171F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119335" y="1114476"/>
            <a:ext cx="1339850" cy="895350"/>
            <a:chOff x="1119335" y="1114476"/>
            <a:chExt cx="1339850" cy="895350"/>
          </a:xfrm>
        </p:grpSpPr>
        <p:sp>
          <p:nvSpPr>
            <p:cNvPr id="10" name="object 10"/>
            <p:cNvSpPr/>
            <p:nvPr/>
          </p:nvSpPr>
          <p:spPr>
            <a:xfrm>
              <a:off x="1119335" y="1562151"/>
              <a:ext cx="1339850" cy="447675"/>
            </a:xfrm>
            <a:custGeom>
              <a:avLst/>
              <a:gdLst/>
              <a:ahLst/>
              <a:cxnLst/>
              <a:rect l="l" t="t" r="r" b="b"/>
              <a:pathLst>
                <a:path w="1339850" h="447675">
                  <a:moveTo>
                    <a:pt x="1339517" y="447675"/>
                  </a:moveTo>
                  <a:lnTo>
                    <a:pt x="0" y="447675"/>
                  </a:lnTo>
                  <a:lnTo>
                    <a:pt x="0" y="0"/>
                  </a:lnTo>
                  <a:lnTo>
                    <a:pt x="1339517" y="0"/>
                  </a:lnTo>
                  <a:lnTo>
                    <a:pt x="1339517" y="447675"/>
                  </a:lnTo>
                  <a:close/>
                </a:path>
              </a:pathLst>
            </a:custGeom>
            <a:solidFill>
              <a:srgbClr val="D62009"/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119335" y="1114476"/>
              <a:ext cx="1339850" cy="447675"/>
            </a:xfrm>
            <a:custGeom>
              <a:avLst/>
              <a:gdLst/>
              <a:ahLst/>
              <a:cxnLst/>
              <a:rect l="l" t="t" r="r" b="b"/>
              <a:pathLst>
                <a:path w="1339850" h="447675">
                  <a:moveTo>
                    <a:pt x="1339517" y="447675"/>
                  </a:moveTo>
                  <a:lnTo>
                    <a:pt x="0" y="447675"/>
                  </a:lnTo>
                  <a:lnTo>
                    <a:pt x="0" y="0"/>
                  </a:lnTo>
                  <a:lnTo>
                    <a:pt x="1339517" y="0"/>
                  </a:lnTo>
                  <a:lnTo>
                    <a:pt x="1339517" y="447675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latin typeface="Zen Maru Gothic Medium" pitchFamily="2" charset="-120"/>
                <a:ea typeface="Zen Maru Gothic Medium" pitchFamily="2" charset="-120"/>
              </a:rPr>
              <a:t>波蘭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16000" y="2756911"/>
            <a:ext cx="6985000" cy="1975284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490"/>
              </a:spcBef>
            </a:pPr>
            <a:r>
              <a:rPr sz="35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Rzuca żabami.</a:t>
            </a:r>
            <a:endParaRPr sz="3500" dirty="0">
              <a:latin typeface="jf open 粉圓 2.1" panose="020B0500000000000000" pitchFamily="34" charset="-120"/>
              <a:ea typeface="jf open 粉圓 2.1" panose="020B0500000000000000" pitchFamily="34" charset="-120"/>
              <a:cs typeface="Trebuchet MS"/>
            </a:endParaRPr>
          </a:p>
          <a:p>
            <a:pPr marL="12700">
              <a:lnSpc>
                <a:spcPct val="150000"/>
              </a:lnSpc>
              <a:spcBef>
                <a:spcPts val="1575"/>
              </a:spcBef>
            </a:pPr>
            <a:r>
              <a:rPr sz="40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天在「丟青蛙」</a:t>
            </a:r>
            <a:endParaRPr sz="40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34D71BA8-15BD-DB5D-CC03-02396384D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1114476"/>
            <a:ext cx="7530089" cy="753008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15171F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119335" y="1114476"/>
            <a:ext cx="1339850" cy="895350"/>
            <a:chOff x="1119335" y="1114476"/>
            <a:chExt cx="1339850" cy="895350"/>
          </a:xfrm>
        </p:grpSpPr>
        <p:sp>
          <p:nvSpPr>
            <p:cNvPr id="10" name="object 10"/>
            <p:cNvSpPr/>
            <p:nvPr/>
          </p:nvSpPr>
          <p:spPr>
            <a:xfrm>
              <a:off x="1119335" y="1562151"/>
              <a:ext cx="1339850" cy="447675"/>
            </a:xfrm>
            <a:custGeom>
              <a:avLst/>
              <a:gdLst/>
              <a:ahLst/>
              <a:cxnLst/>
              <a:rect l="l" t="t" r="r" b="b"/>
              <a:pathLst>
                <a:path w="1339850" h="447675">
                  <a:moveTo>
                    <a:pt x="1339517" y="447675"/>
                  </a:moveTo>
                  <a:lnTo>
                    <a:pt x="0" y="447675"/>
                  </a:lnTo>
                  <a:lnTo>
                    <a:pt x="0" y="0"/>
                  </a:lnTo>
                  <a:lnTo>
                    <a:pt x="1339517" y="0"/>
                  </a:lnTo>
                  <a:lnTo>
                    <a:pt x="1339517" y="447675"/>
                  </a:lnTo>
                  <a:close/>
                </a:path>
              </a:pathLst>
            </a:custGeom>
            <a:solidFill>
              <a:srgbClr val="D62009"/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119335" y="1114476"/>
              <a:ext cx="1339850" cy="447675"/>
            </a:xfrm>
            <a:custGeom>
              <a:avLst/>
              <a:gdLst/>
              <a:ahLst/>
              <a:cxnLst/>
              <a:rect l="l" t="t" r="r" b="b"/>
              <a:pathLst>
                <a:path w="1339850" h="447675">
                  <a:moveTo>
                    <a:pt x="1339517" y="447675"/>
                  </a:moveTo>
                  <a:lnTo>
                    <a:pt x="0" y="447675"/>
                  </a:lnTo>
                  <a:lnTo>
                    <a:pt x="0" y="0"/>
                  </a:lnTo>
                  <a:lnTo>
                    <a:pt x="1339517" y="0"/>
                  </a:lnTo>
                  <a:lnTo>
                    <a:pt x="1339517" y="447675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latin typeface="Zen Maru Gothic Medium" pitchFamily="2" charset="-120"/>
                <a:ea typeface="Zen Maru Gothic Medium" pitchFamily="2" charset="-120"/>
              </a:rPr>
              <a:t>波蘭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16000" y="2756911"/>
            <a:ext cx="6985000" cy="1975284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490"/>
              </a:spcBef>
            </a:pPr>
            <a:r>
              <a:rPr sz="35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Rzuca żabami.</a:t>
            </a:r>
            <a:endParaRPr sz="3500" dirty="0">
              <a:latin typeface="jf open 粉圓 2.1" panose="020B0500000000000000" pitchFamily="34" charset="-120"/>
              <a:ea typeface="jf open 粉圓 2.1" panose="020B0500000000000000" pitchFamily="34" charset="-120"/>
              <a:cs typeface="Trebuchet MS"/>
            </a:endParaRPr>
          </a:p>
          <a:p>
            <a:pPr marL="12700">
              <a:lnSpc>
                <a:spcPct val="150000"/>
              </a:lnSpc>
              <a:spcBef>
                <a:spcPts val="1575"/>
              </a:spcBef>
            </a:pPr>
            <a:r>
              <a:rPr sz="40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天在「丟青蛙」</a:t>
            </a:r>
            <a:endParaRPr sz="40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5086014"/>
            <a:ext cx="4268175" cy="417228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81362" y="2981004"/>
            <a:ext cx="10077937" cy="627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597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15171F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1238" y="1114476"/>
            <a:ext cx="1276349" cy="895349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latin typeface="Zen Maru Gothic Medium" pitchFamily="2" charset="-120"/>
                <a:ea typeface="Zen Maru Gothic Medium" pitchFamily="2" charset="-120"/>
              </a:rPr>
              <a:t>巴西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16000" y="2756911"/>
            <a:ext cx="6985000" cy="1965666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490"/>
              </a:spcBef>
            </a:pPr>
            <a:r>
              <a:rPr sz="35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Chovem cobras e lagartos.</a:t>
            </a:r>
            <a:endParaRPr sz="3500" dirty="0">
              <a:latin typeface="jf open 粉圓 2.1" panose="020B0500000000000000" pitchFamily="34" charset="-120"/>
              <a:ea typeface="jf open 粉圓 2.1" panose="020B0500000000000000" pitchFamily="34" charset="-120"/>
              <a:cs typeface="Trebuchet MS"/>
            </a:endParaRPr>
          </a:p>
          <a:p>
            <a:pPr marL="12700">
              <a:lnSpc>
                <a:spcPct val="150000"/>
              </a:lnSpc>
              <a:spcBef>
                <a:spcPts val="1575"/>
              </a:spcBef>
            </a:pPr>
            <a:r>
              <a:rPr sz="40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天上下「蛇和蜥蜴」</a:t>
            </a:r>
            <a:endParaRPr sz="40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1F8AEB68-BFE5-52A9-7F8B-D7EDDCA902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3014" y="1025525"/>
            <a:ext cx="5057775" cy="674370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5531E827-37CD-0CEA-EB07-317C1A0420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9950" y="1025525"/>
            <a:ext cx="5057775" cy="67437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15171F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1238" y="1114476"/>
            <a:ext cx="1276349" cy="895349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latin typeface="Zen Maru Gothic Medium" pitchFamily="2" charset="-120"/>
                <a:ea typeface="Zen Maru Gothic Medium" pitchFamily="2" charset="-120"/>
              </a:rPr>
              <a:t>巴西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16000" y="2756911"/>
            <a:ext cx="6985000" cy="1965666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490"/>
              </a:spcBef>
            </a:pPr>
            <a:r>
              <a:rPr sz="35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Chovem cobras e lagartos.</a:t>
            </a:r>
            <a:endParaRPr sz="3500" dirty="0">
              <a:latin typeface="jf open 粉圓 2.1" panose="020B0500000000000000" pitchFamily="34" charset="-120"/>
              <a:ea typeface="jf open 粉圓 2.1" panose="020B0500000000000000" pitchFamily="34" charset="-120"/>
              <a:cs typeface="Trebuchet MS"/>
            </a:endParaRPr>
          </a:p>
          <a:p>
            <a:pPr marL="12700">
              <a:lnSpc>
                <a:spcPct val="150000"/>
              </a:lnSpc>
              <a:spcBef>
                <a:spcPts val="1575"/>
              </a:spcBef>
            </a:pPr>
            <a:r>
              <a:rPr sz="4000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天上下「蛇和蜥蜴」</a:t>
            </a:r>
            <a:endParaRPr sz="40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5086014"/>
            <a:ext cx="4270095" cy="417228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1362" y="2981004"/>
            <a:ext cx="10077937" cy="627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839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0" y="800099"/>
            <a:ext cx="6172200" cy="1134926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209550" rIns="0" bIns="0" rtlCol="0">
            <a:spAutoFit/>
          </a:bodyPr>
          <a:lstStyle/>
          <a:p>
            <a:pPr marL="989965" algn="ctr">
              <a:lnSpc>
                <a:spcPct val="100000"/>
              </a:lnSpc>
              <a:spcBef>
                <a:spcPts val="1650"/>
              </a:spcBef>
            </a:pPr>
            <a:r>
              <a:rPr b="0" spc="-10" dirty="0">
                <a:solidFill>
                  <a:srgbClr val="FFCC00"/>
                </a:solidFill>
                <a:latin typeface="Zen Maru Gothic Medium" pitchFamily="2" charset="-120"/>
                <a:ea typeface="Zen Maru Gothic Medium" pitchFamily="2" charset="-120"/>
                <a:cs typeface="cjkFonts 全瀨體" panose="02000600000000000000" pitchFamily="2" charset="-120"/>
              </a:rPr>
              <a:t>動畫視覺方向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pattFill prst="pct5">
          <a:fgClr>
            <a:schemeClr val="tx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0" baseline="-8796" dirty="0">
                <a:solidFill>
                  <a:srgbClr val="0059AC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LOGO</a:t>
            </a:r>
            <a:r>
              <a:rPr sz="9000" spc="359" baseline="-8796" dirty="0">
                <a:solidFill>
                  <a:srgbClr val="0059AC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 </a:t>
            </a:r>
            <a:r>
              <a:rPr sz="3500" spc="-20" dirty="0">
                <a:solidFill>
                  <a:srgbClr val="0059AC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設計提案</a:t>
            </a:r>
            <a:endParaRPr sz="3500" dirty="0"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8023"/>
              <a:ext cx="18287365" cy="10249535"/>
            </a:xfrm>
            <a:custGeom>
              <a:avLst/>
              <a:gdLst/>
              <a:ahLst/>
              <a:cxnLst/>
              <a:rect l="l" t="t" r="r" b="b"/>
              <a:pathLst>
                <a:path w="18287365" h="10249535">
                  <a:moveTo>
                    <a:pt x="10380853" y="0"/>
                  </a:moveTo>
                  <a:lnTo>
                    <a:pt x="0" y="0"/>
                  </a:lnTo>
                  <a:lnTo>
                    <a:pt x="0" y="1749501"/>
                  </a:lnTo>
                  <a:lnTo>
                    <a:pt x="10380853" y="1749501"/>
                  </a:lnTo>
                  <a:lnTo>
                    <a:pt x="10380853" y="0"/>
                  </a:lnTo>
                  <a:close/>
                </a:path>
                <a:path w="18287365" h="10249535">
                  <a:moveTo>
                    <a:pt x="18286972" y="9698888"/>
                  </a:moveTo>
                  <a:lnTo>
                    <a:pt x="14062443" y="9698888"/>
                  </a:lnTo>
                  <a:lnTo>
                    <a:pt x="14062443" y="10248989"/>
                  </a:lnTo>
                  <a:lnTo>
                    <a:pt x="18286972" y="10248989"/>
                  </a:lnTo>
                  <a:lnTo>
                    <a:pt x="18286972" y="9698888"/>
                  </a:lnTo>
                  <a:close/>
                </a:path>
              </a:pathLst>
            </a:custGeom>
            <a:solidFill>
              <a:srgbClr val="15181B"/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028700" y="3040163"/>
              <a:ext cx="16231235" cy="6218555"/>
            </a:xfrm>
            <a:custGeom>
              <a:avLst/>
              <a:gdLst/>
              <a:ahLst/>
              <a:cxnLst/>
              <a:rect l="l" t="t" r="r" b="b"/>
              <a:pathLst>
                <a:path w="16231235" h="6218555">
                  <a:moveTo>
                    <a:pt x="3546297" y="5257444"/>
                  </a:moveTo>
                  <a:lnTo>
                    <a:pt x="0" y="5257444"/>
                  </a:lnTo>
                  <a:lnTo>
                    <a:pt x="0" y="6218136"/>
                  </a:lnTo>
                  <a:lnTo>
                    <a:pt x="3546297" y="6218136"/>
                  </a:lnTo>
                  <a:lnTo>
                    <a:pt x="3546297" y="5257444"/>
                  </a:lnTo>
                  <a:close/>
                </a:path>
                <a:path w="16231235" h="6218555">
                  <a:moveTo>
                    <a:pt x="7708874" y="5257444"/>
                  </a:moveTo>
                  <a:lnTo>
                    <a:pt x="4162577" y="5257444"/>
                  </a:lnTo>
                  <a:lnTo>
                    <a:pt x="4162577" y="6218136"/>
                  </a:lnTo>
                  <a:lnTo>
                    <a:pt x="7708874" y="6218136"/>
                  </a:lnTo>
                  <a:lnTo>
                    <a:pt x="7708874" y="5257444"/>
                  </a:lnTo>
                  <a:close/>
                </a:path>
                <a:path w="16231235" h="6218555">
                  <a:moveTo>
                    <a:pt x="11873878" y="5257444"/>
                  </a:moveTo>
                  <a:lnTo>
                    <a:pt x="8327580" y="5257444"/>
                  </a:lnTo>
                  <a:lnTo>
                    <a:pt x="8327580" y="6218136"/>
                  </a:lnTo>
                  <a:lnTo>
                    <a:pt x="11873878" y="6218136"/>
                  </a:lnTo>
                  <a:lnTo>
                    <a:pt x="11873878" y="5257444"/>
                  </a:lnTo>
                  <a:close/>
                </a:path>
                <a:path w="16231235" h="6218555">
                  <a:moveTo>
                    <a:pt x="16231019" y="5257444"/>
                  </a:moveTo>
                  <a:lnTo>
                    <a:pt x="12684722" y="5257444"/>
                  </a:lnTo>
                  <a:lnTo>
                    <a:pt x="12684722" y="6218136"/>
                  </a:lnTo>
                  <a:lnTo>
                    <a:pt x="16231019" y="6218136"/>
                  </a:lnTo>
                  <a:lnTo>
                    <a:pt x="16231019" y="5257444"/>
                  </a:lnTo>
                  <a:close/>
                </a:path>
                <a:path w="16231235" h="6218555">
                  <a:moveTo>
                    <a:pt x="16231019" y="0"/>
                  </a:moveTo>
                  <a:lnTo>
                    <a:pt x="12684722" y="0"/>
                  </a:lnTo>
                  <a:lnTo>
                    <a:pt x="12684722" y="960691"/>
                  </a:lnTo>
                  <a:lnTo>
                    <a:pt x="16231019" y="960691"/>
                  </a:lnTo>
                  <a:lnTo>
                    <a:pt x="16231019" y="0"/>
                  </a:lnTo>
                  <a:close/>
                </a:path>
              </a:pathLst>
            </a:custGeom>
            <a:solidFill>
              <a:srgbClr val="202528"/>
            </a:solidFill>
          </p:spPr>
          <p:txBody>
            <a:bodyPr wrap="square" lIns="0" tIns="0" rIns="0" bIns="0" rtlCol="0"/>
            <a:lstStyle/>
            <a:p>
              <a:endParaRPr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6000" y="993839"/>
            <a:ext cx="256540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b="0" spc="-20" dirty="0">
                <a:solidFill>
                  <a:srgbClr val="FFCC00"/>
                </a:solidFill>
                <a:latin typeface="Zen Maru Gothic Medium" pitchFamily="2" charset="-120"/>
                <a:ea typeface="Zen Maru Gothic Medium" pitchFamily="2" charset="-120"/>
              </a:rPr>
              <a:t>互動方式</a:t>
            </a:r>
            <a:endParaRPr sz="5000" b="0" dirty="0">
              <a:latin typeface="Zen Maru Gothic Medium" pitchFamily="2" charset="-120"/>
              <a:ea typeface="Zen Maru Gothic Medium" pitchFamily="2" charset="-12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9506" y="1192243"/>
            <a:ext cx="101587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95" dirty="0">
                <a:solidFill>
                  <a:srgbClr val="FFFFF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進場前，牆面播放大雨，並出現：「同一場雨，世界會怎麼說？」</a:t>
            </a:r>
            <a:endParaRPr sz="280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56280" y="3040158"/>
            <a:ext cx="3546475" cy="551433"/>
          </a:xfrm>
          <a:prstGeom prst="rect">
            <a:avLst/>
          </a:prstGeom>
          <a:solidFill>
            <a:srgbClr val="202528"/>
          </a:solidFill>
        </p:spPr>
        <p:txBody>
          <a:bodyPr vert="horz" wrap="square" lIns="0" tIns="180340" rIns="0" bIns="0" rtlCol="0">
            <a:spAutoFit/>
          </a:bodyPr>
          <a:lstStyle/>
          <a:p>
            <a:pPr marL="240029">
              <a:lnSpc>
                <a:spcPct val="100000"/>
              </a:lnSpc>
              <a:spcBef>
                <a:spcPts val="1420"/>
              </a:spcBef>
            </a:pPr>
            <a:r>
              <a:rPr sz="2400" spc="-10" dirty="0">
                <a:solidFill>
                  <a:srgbClr val="DFDFD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轉動雨傘切換國家</a:t>
            </a:r>
            <a:endParaRPr sz="240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830645" y="2939642"/>
            <a:ext cx="3074035" cy="1016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8400"/>
              </a:lnSpc>
              <a:spcBef>
                <a:spcPts val="100"/>
              </a:spcBef>
            </a:pPr>
            <a:r>
              <a:rPr sz="2400" spc="-5" dirty="0">
                <a:solidFill>
                  <a:srgbClr val="DFDFD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國旗淡化後出現該俚語</a:t>
            </a:r>
            <a:r>
              <a:rPr sz="2400" spc="-25" dirty="0">
                <a:solidFill>
                  <a:srgbClr val="DFDFD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雨景</a:t>
            </a:r>
            <a:endParaRPr sz="240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30645" y="8102020"/>
            <a:ext cx="3074035" cy="1016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8400"/>
              </a:lnSpc>
              <a:spcBef>
                <a:spcPts val="100"/>
              </a:spcBef>
            </a:pPr>
            <a:r>
              <a:rPr sz="2400" spc="-5" dirty="0">
                <a:solidFill>
                  <a:srgbClr val="DFDFD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在投影畫面體驗著看到</a:t>
            </a:r>
            <a:r>
              <a:rPr sz="2400" spc="-10" dirty="0">
                <a:solidFill>
                  <a:srgbClr val="DFDFDF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人物剪影+俚語雨景</a:t>
            </a:r>
            <a:endParaRPr sz="2400">
              <a:latin typeface="jf open 粉圓 2.1" panose="020B0500000000000000" pitchFamily="34" charset="-120"/>
              <a:ea typeface="jf open 粉圓 2.1" panose="020B0500000000000000" pitchFamily="34" charset="-120"/>
              <a:cs typeface="Noto Sans TC Thi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88F74E5-B61D-84C2-BE12-3D8F0190FB4D}"/>
              </a:ext>
            </a:extLst>
          </p:cNvPr>
          <p:cNvSpPr>
            <a:spLocks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6000" y="996950"/>
            <a:ext cx="49276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TW" altLang="en-US" b="0" spc="-20" dirty="0">
                <a:solidFill>
                  <a:srgbClr val="FFCC00"/>
                </a:solidFill>
                <a:latin typeface="Zen Maru Gothic Medium" pitchFamily="2" charset="-120"/>
                <a:ea typeface="Zen Maru Gothic Medium" pitchFamily="2" charset="-120"/>
              </a:rPr>
              <a:t>展場設計</a:t>
            </a:r>
            <a:endParaRPr b="0" spc="-20" dirty="0">
              <a:solidFill>
                <a:srgbClr val="FFCC00"/>
              </a:solidFill>
              <a:latin typeface="Zen Maru Gothic Medium" pitchFamily="2" charset="-120"/>
              <a:ea typeface="Zen Maru Gothic Medium" pitchFamily="2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8A80A92-9BD3-AD29-F048-FE3273B79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-11857"/>
            <a:ext cx="13716000" cy="1031071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88F74E5-B61D-84C2-BE12-3D8F0190FB4D}"/>
              </a:ext>
            </a:extLst>
          </p:cNvPr>
          <p:cNvSpPr>
            <a:spLocks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6000" y="996950"/>
            <a:ext cx="49276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20" dirty="0">
                <a:solidFill>
                  <a:srgbClr val="FFCC00"/>
                </a:solidFill>
                <a:latin typeface="Zen Maru Gothic Medium" pitchFamily="2" charset="-120"/>
                <a:ea typeface="Zen Maru Gothic Medium" pitchFamily="2" charset="-120"/>
              </a:rPr>
              <a:t>設備清單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6000" y="3163251"/>
            <a:ext cx="8128000" cy="4013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D2AA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軟體</a:t>
            </a:r>
          </a:p>
          <a:p>
            <a:pPr marL="12700">
              <a:lnSpc>
                <a:spcPct val="100000"/>
              </a:lnSpc>
              <a:spcBef>
                <a:spcPts val="4120"/>
              </a:spcBef>
            </a:pPr>
            <a:r>
              <a:rPr sz="3000" b="1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Yu Gothic UI"/>
              </a:rPr>
              <a:t>網頁程式</a:t>
            </a:r>
            <a:endParaRPr sz="3000" dirty="0">
              <a:solidFill>
                <a:schemeClr val="bg1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Yu Gothic UI"/>
            </a:endParaRPr>
          </a:p>
          <a:p>
            <a:pPr>
              <a:lnSpc>
                <a:spcPct val="100000"/>
              </a:lnSpc>
              <a:spcBef>
                <a:spcPts val="2615"/>
              </a:spcBef>
            </a:pPr>
            <a:endParaRPr sz="3000" dirty="0">
              <a:latin typeface="jf open 粉圓 2.1" panose="020B0500000000000000" pitchFamily="34" charset="-120"/>
              <a:ea typeface="jf open 粉圓 2.1" panose="020B0500000000000000" pitchFamily="34" charset="-120"/>
              <a:cs typeface="Yu Gothic UI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D2AA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硬體</a:t>
            </a:r>
          </a:p>
          <a:p>
            <a:pPr marL="12700">
              <a:lnSpc>
                <a:spcPct val="100000"/>
              </a:lnSpc>
              <a:spcBef>
                <a:spcPts val="4125"/>
              </a:spcBef>
            </a:pPr>
            <a:r>
              <a:rPr sz="3000" b="1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rPr>
              <a:t>2個攝影機+投影機+電腦</a:t>
            </a:r>
          </a:p>
        </p:txBody>
      </p:sp>
    </p:spTree>
    <p:extLst>
      <p:ext uri="{BB962C8B-B14F-4D97-AF65-F5344CB8AC3E}">
        <p14:creationId xmlns:p14="http://schemas.microsoft.com/office/powerpoint/2010/main" val="10182574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69">
            <a:extLst>
              <a:ext uri="{FF2B5EF4-FFF2-40B4-BE49-F238E27FC236}">
                <a16:creationId xmlns:a16="http://schemas.microsoft.com/office/drawing/2014/main" id="{5C6751F6-2F6F-1F3B-2EA0-6B87388791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A781EC4-1FB9-C808-523D-F3543C325F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70"/>
            <a:ext cx="18288000" cy="10287000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5999" y="996950"/>
            <a:ext cx="8648903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0" spc="-280" dirty="0" err="1">
                <a:solidFill>
                  <a:srgbClr val="FFCC00"/>
                </a:solidFill>
                <a:latin typeface="Zen Maru Gothic Medium" pitchFamily="2" charset="-120"/>
                <a:ea typeface="Zen Maru Gothic Medium" pitchFamily="2" charset="-120"/>
              </a:rPr>
              <a:t>技術架構</a:t>
            </a:r>
            <a:r>
              <a:rPr lang="zh-TW" altLang="en-US" b="0" spc="-280" dirty="0">
                <a:solidFill>
                  <a:srgbClr val="FFCC00"/>
                </a:solidFill>
                <a:latin typeface="Zen Maru Gothic Medium" pitchFamily="2" charset="-120"/>
                <a:ea typeface="Zen Maru Gothic Medium" pitchFamily="2" charset="-120"/>
              </a:rPr>
              <a:t>  不是重點</a:t>
            </a:r>
            <a:endParaRPr b="0" spc="-280" dirty="0">
              <a:solidFill>
                <a:srgbClr val="FFCC00"/>
              </a:solidFill>
              <a:latin typeface="Zen Maru Gothic Medium" pitchFamily="2" charset="-120"/>
              <a:ea typeface="Zen Maru Gothic Medium" pitchFamily="2" charset="-120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2033105" y="1943100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5" h="828675">
                <a:moveTo>
                  <a:pt x="1901435" y="828423"/>
                </a:moveTo>
                <a:lnTo>
                  <a:pt x="66661" y="828423"/>
                </a:lnTo>
                <a:lnTo>
                  <a:pt x="40712" y="823185"/>
                </a:lnTo>
                <a:lnTo>
                  <a:pt x="19524" y="808897"/>
                </a:lnTo>
                <a:lnTo>
                  <a:pt x="5239" y="787703"/>
                </a:lnTo>
                <a:lnTo>
                  <a:pt x="0" y="761749"/>
                </a:lnTo>
                <a:lnTo>
                  <a:pt x="0" y="66674"/>
                </a:lnTo>
                <a:lnTo>
                  <a:pt x="5239" y="40722"/>
                </a:lnTo>
                <a:lnTo>
                  <a:pt x="19524" y="19528"/>
                </a:lnTo>
                <a:lnTo>
                  <a:pt x="40712" y="5239"/>
                </a:lnTo>
                <a:lnTo>
                  <a:pt x="66661" y="0"/>
                </a:lnTo>
                <a:lnTo>
                  <a:pt x="1901435" y="0"/>
                </a:lnTo>
                <a:lnTo>
                  <a:pt x="1927384" y="5239"/>
                </a:lnTo>
                <a:lnTo>
                  <a:pt x="1948572" y="19528"/>
                </a:lnTo>
                <a:lnTo>
                  <a:pt x="1962857" y="40722"/>
                </a:lnTo>
                <a:lnTo>
                  <a:pt x="1967506" y="63760"/>
                </a:lnTo>
                <a:lnTo>
                  <a:pt x="1967506" y="764664"/>
                </a:lnTo>
                <a:lnTo>
                  <a:pt x="1962857" y="787703"/>
                </a:lnTo>
                <a:lnTo>
                  <a:pt x="1948572" y="808897"/>
                </a:lnTo>
                <a:lnTo>
                  <a:pt x="1927384" y="823185"/>
                </a:lnTo>
                <a:lnTo>
                  <a:pt x="1901435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496657" y="2200338"/>
            <a:ext cx="1041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人物剪影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8699" y="2853671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4" h="828675">
                <a:moveTo>
                  <a:pt x="1901427" y="828423"/>
                </a:moveTo>
                <a:lnTo>
                  <a:pt x="66674" y="828423"/>
                </a:lnTo>
                <a:lnTo>
                  <a:pt x="40722" y="823191"/>
                </a:lnTo>
                <a:lnTo>
                  <a:pt x="19528" y="808896"/>
                </a:lnTo>
                <a:lnTo>
                  <a:pt x="5239" y="787697"/>
                </a:lnTo>
                <a:lnTo>
                  <a:pt x="0" y="761744"/>
                </a:lnTo>
                <a:lnTo>
                  <a:pt x="0" y="66675"/>
                </a:lnTo>
                <a:lnTo>
                  <a:pt x="19528" y="19529"/>
                </a:lnTo>
                <a:lnTo>
                  <a:pt x="66674" y="0"/>
                </a:lnTo>
                <a:lnTo>
                  <a:pt x="1901427" y="0"/>
                </a:lnTo>
                <a:lnTo>
                  <a:pt x="1927381" y="5240"/>
                </a:lnTo>
                <a:lnTo>
                  <a:pt x="1948574" y="19529"/>
                </a:lnTo>
                <a:lnTo>
                  <a:pt x="1962863" y="40722"/>
                </a:lnTo>
                <a:lnTo>
                  <a:pt x="1967506" y="63724"/>
                </a:lnTo>
                <a:lnTo>
                  <a:pt x="1967506" y="764695"/>
                </a:lnTo>
                <a:lnTo>
                  <a:pt x="1962863" y="787697"/>
                </a:lnTo>
                <a:lnTo>
                  <a:pt x="1948574" y="808896"/>
                </a:lnTo>
                <a:lnTo>
                  <a:pt x="1927381" y="823191"/>
                </a:lnTo>
                <a:lnTo>
                  <a:pt x="1901427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5467" y="3110910"/>
            <a:ext cx="9944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攝影機 </a:t>
            </a:r>
            <a:r>
              <a:rPr sz="2000" spc="-5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1</a:t>
            </a:r>
            <a:endParaRPr sz="2000" dirty="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05782" y="2853671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4" h="828675">
                <a:moveTo>
                  <a:pt x="1901424" y="828423"/>
                </a:moveTo>
                <a:lnTo>
                  <a:pt x="66681" y="828423"/>
                </a:lnTo>
                <a:lnTo>
                  <a:pt x="40727" y="823191"/>
                </a:lnTo>
                <a:lnTo>
                  <a:pt x="19529" y="808896"/>
                </a:lnTo>
                <a:lnTo>
                  <a:pt x="5233" y="787697"/>
                </a:lnTo>
                <a:lnTo>
                  <a:pt x="0" y="761744"/>
                </a:lnTo>
                <a:lnTo>
                  <a:pt x="0" y="66675"/>
                </a:lnTo>
                <a:lnTo>
                  <a:pt x="19529" y="19529"/>
                </a:lnTo>
                <a:lnTo>
                  <a:pt x="66681" y="0"/>
                </a:lnTo>
                <a:lnTo>
                  <a:pt x="1901424" y="0"/>
                </a:lnTo>
                <a:lnTo>
                  <a:pt x="1927378" y="5240"/>
                </a:lnTo>
                <a:lnTo>
                  <a:pt x="1948577" y="19529"/>
                </a:lnTo>
                <a:lnTo>
                  <a:pt x="1962872" y="40722"/>
                </a:lnTo>
                <a:lnTo>
                  <a:pt x="1967506" y="63662"/>
                </a:lnTo>
                <a:lnTo>
                  <a:pt x="1967506" y="764756"/>
                </a:lnTo>
                <a:lnTo>
                  <a:pt x="1962872" y="787697"/>
                </a:lnTo>
                <a:lnTo>
                  <a:pt x="1948577" y="808896"/>
                </a:lnTo>
                <a:lnTo>
                  <a:pt x="1927378" y="823191"/>
                </a:lnTo>
                <a:lnTo>
                  <a:pt x="1901424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69324" y="3110910"/>
            <a:ext cx="1041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人物影像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82865" y="2853671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5" h="828675">
                <a:moveTo>
                  <a:pt x="1901416" y="828423"/>
                </a:moveTo>
                <a:lnTo>
                  <a:pt x="66672" y="828423"/>
                </a:lnTo>
                <a:lnTo>
                  <a:pt x="40724" y="823191"/>
                </a:lnTo>
                <a:lnTo>
                  <a:pt x="19535" y="808896"/>
                </a:lnTo>
                <a:lnTo>
                  <a:pt x="5251" y="787697"/>
                </a:lnTo>
                <a:lnTo>
                  <a:pt x="0" y="761744"/>
                </a:lnTo>
                <a:lnTo>
                  <a:pt x="0" y="66675"/>
                </a:lnTo>
                <a:lnTo>
                  <a:pt x="19535" y="19529"/>
                </a:lnTo>
                <a:lnTo>
                  <a:pt x="66672" y="0"/>
                </a:lnTo>
                <a:lnTo>
                  <a:pt x="1901416" y="0"/>
                </a:lnTo>
                <a:lnTo>
                  <a:pt x="1927382" y="5240"/>
                </a:lnTo>
                <a:lnTo>
                  <a:pt x="1948580" y="19529"/>
                </a:lnTo>
                <a:lnTo>
                  <a:pt x="1962868" y="40722"/>
                </a:lnTo>
                <a:lnTo>
                  <a:pt x="1967506" y="63703"/>
                </a:lnTo>
                <a:lnTo>
                  <a:pt x="1967506" y="764716"/>
                </a:lnTo>
                <a:lnTo>
                  <a:pt x="1962868" y="787697"/>
                </a:lnTo>
                <a:lnTo>
                  <a:pt x="1948580" y="808896"/>
                </a:lnTo>
                <a:lnTo>
                  <a:pt x="1927382" y="823191"/>
                </a:lnTo>
                <a:lnTo>
                  <a:pt x="1901416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46428" y="3110910"/>
            <a:ext cx="1041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背景去除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159947" y="2853671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5" h="828675">
                <a:moveTo>
                  <a:pt x="1901438" y="828423"/>
                </a:moveTo>
                <a:lnTo>
                  <a:pt x="66664" y="828423"/>
                </a:lnTo>
                <a:lnTo>
                  <a:pt x="40715" y="823191"/>
                </a:lnTo>
                <a:lnTo>
                  <a:pt x="19527" y="808896"/>
                </a:lnTo>
                <a:lnTo>
                  <a:pt x="5242" y="787697"/>
                </a:lnTo>
                <a:lnTo>
                  <a:pt x="0" y="761744"/>
                </a:lnTo>
                <a:lnTo>
                  <a:pt x="0" y="66675"/>
                </a:lnTo>
                <a:lnTo>
                  <a:pt x="19527" y="19529"/>
                </a:lnTo>
                <a:lnTo>
                  <a:pt x="66664" y="0"/>
                </a:lnTo>
                <a:lnTo>
                  <a:pt x="1901438" y="0"/>
                </a:lnTo>
                <a:lnTo>
                  <a:pt x="1927387" y="5240"/>
                </a:lnTo>
                <a:lnTo>
                  <a:pt x="1948575" y="19529"/>
                </a:lnTo>
                <a:lnTo>
                  <a:pt x="1962860" y="40722"/>
                </a:lnTo>
                <a:lnTo>
                  <a:pt x="1967506" y="63745"/>
                </a:lnTo>
                <a:lnTo>
                  <a:pt x="1967506" y="764673"/>
                </a:lnTo>
                <a:lnTo>
                  <a:pt x="1962860" y="787697"/>
                </a:lnTo>
                <a:lnTo>
                  <a:pt x="1948575" y="808896"/>
                </a:lnTo>
                <a:lnTo>
                  <a:pt x="1927387" y="823191"/>
                </a:lnTo>
                <a:lnTo>
                  <a:pt x="1901438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23503" y="3110910"/>
            <a:ext cx="1041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人物剪影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065002" y="4098674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5" h="828675">
                <a:moveTo>
                  <a:pt x="1901414" y="828423"/>
                </a:moveTo>
                <a:lnTo>
                  <a:pt x="66670" y="828423"/>
                </a:lnTo>
                <a:lnTo>
                  <a:pt x="40721" y="823179"/>
                </a:lnTo>
                <a:lnTo>
                  <a:pt x="19533" y="808894"/>
                </a:lnTo>
                <a:lnTo>
                  <a:pt x="5248" y="787706"/>
                </a:lnTo>
                <a:lnTo>
                  <a:pt x="0" y="761757"/>
                </a:lnTo>
                <a:lnTo>
                  <a:pt x="0" y="66661"/>
                </a:lnTo>
                <a:lnTo>
                  <a:pt x="19533" y="19523"/>
                </a:lnTo>
                <a:lnTo>
                  <a:pt x="66670" y="0"/>
                </a:lnTo>
                <a:lnTo>
                  <a:pt x="1901414" y="0"/>
                </a:lnTo>
                <a:lnTo>
                  <a:pt x="1927380" y="5239"/>
                </a:lnTo>
                <a:lnTo>
                  <a:pt x="1948578" y="19523"/>
                </a:lnTo>
                <a:lnTo>
                  <a:pt x="1962866" y="40712"/>
                </a:lnTo>
                <a:lnTo>
                  <a:pt x="1967506" y="63699"/>
                </a:lnTo>
                <a:lnTo>
                  <a:pt x="1967506" y="764719"/>
                </a:lnTo>
                <a:lnTo>
                  <a:pt x="1962866" y="787706"/>
                </a:lnTo>
                <a:lnTo>
                  <a:pt x="1948578" y="808894"/>
                </a:lnTo>
                <a:lnTo>
                  <a:pt x="1927380" y="823179"/>
                </a:lnTo>
                <a:lnTo>
                  <a:pt x="1901414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528564" y="4355914"/>
            <a:ext cx="1041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互動程式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28699" y="4512887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4" h="828675">
                <a:moveTo>
                  <a:pt x="1901427" y="828423"/>
                </a:moveTo>
                <a:lnTo>
                  <a:pt x="66674" y="828423"/>
                </a:lnTo>
                <a:lnTo>
                  <a:pt x="40722" y="823189"/>
                </a:lnTo>
                <a:lnTo>
                  <a:pt x="19528" y="808901"/>
                </a:lnTo>
                <a:lnTo>
                  <a:pt x="5239" y="787703"/>
                </a:lnTo>
                <a:lnTo>
                  <a:pt x="0" y="761737"/>
                </a:lnTo>
                <a:lnTo>
                  <a:pt x="0" y="66671"/>
                </a:lnTo>
                <a:lnTo>
                  <a:pt x="19528" y="19533"/>
                </a:lnTo>
                <a:lnTo>
                  <a:pt x="66674" y="0"/>
                </a:lnTo>
                <a:lnTo>
                  <a:pt x="1901427" y="0"/>
                </a:lnTo>
                <a:lnTo>
                  <a:pt x="1927381" y="5249"/>
                </a:lnTo>
                <a:lnTo>
                  <a:pt x="1948574" y="19533"/>
                </a:lnTo>
                <a:lnTo>
                  <a:pt x="1962863" y="40722"/>
                </a:lnTo>
                <a:lnTo>
                  <a:pt x="1967506" y="63720"/>
                </a:lnTo>
                <a:lnTo>
                  <a:pt x="1967506" y="764689"/>
                </a:lnTo>
                <a:lnTo>
                  <a:pt x="1962863" y="787703"/>
                </a:lnTo>
                <a:lnTo>
                  <a:pt x="1948574" y="808901"/>
                </a:lnTo>
                <a:lnTo>
                  <a:pt x="1927381" y="823189"/>
                </a:lnTo>
                <a:lnTo>
                  <a:pt x="1901427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15467" y="4770137"/>
            <a:ext cx="9944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攝影機 </a:t>
            </a:r>
            <a:r>
              <a:rPr sz="2000" spc="-5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2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52491" y="4336675"/>
            <a:ext cx="2767965" cy="1181100"/>
          </a:xfrm>
          <a:custGeom>
            <a:avLst/>
            <a:gdLst/>
            <a:ahLst/>
            <a:cxnLst/>
            <a:rect l="l" t="t" r="r" b="b"/>
            <a:pathLst>
              <a:path w="2767965" h="1181100">
                <a:moveTo>
                  <a:pt x="2702725" y="1180848"/>
                </a:moveTo>
                <a:lnTo>
                  <a:pt x="66662" y="1180848"/>
                </a:lnTo>
                <a:lnTo>
                  <a:pt x="40713" y="1175606"/>
                </a:lnTo>
                <a:lnTo>
                  <a:pt x="19525" y="1161322"/>
                </a:lnTo>
                <a:lnTo>
                  <a:pt x="5240" y="1140133"/>
                </a:lnTo>
                <a:lnTo>
                  <a:pt x="0" y="1114184"/>
                </a:lnTo>
                <a:lnTo>
                  <a:pt x="0" y="66678"/>
                </a:lnTo>
                <a:lnTo>
                  <a:pt x="5240" y="40725"/>
                </a:lnTo>
                <a:lnTo>
                  <a:pt x="19525" y="19526"/>
                </a:lnTo>
                <a:lnTo>
                  <a:pt x="40713" y="5231"/>
                </a:lnTo>
                <a:lnTo>
                  <a:pt x="66662" y="0"/>
                </a:lnTo>
                <a:lnTo>
                  <a:pt x="2702725" y="0"/>
                </a:lnTo>
                <a:lnTo>
                  <a:pt x="2728692" y="5231"/>
                </a:lnTo>
                <a:lnTo>
                  <a:pt x="2749889" y="19526"/>
                </a:lnTo>
                <a:lnTo>
                  <a:pt x="2764177" y="40725"/>
                </a:lnTo>
                <a:lnTo>
                  <a:pt x="2767614" y="57753"/>
                </a:lnTo>
                <a:lnTo>
                  <a:pt x="2767614" y="1123108"/>
                </a:lnTo>
                <a:lnTo>
                  <a:pt x="2764177" y="1140133"/>
                </a:lnTo>
                <a:lnTo>
                  <a:pt x="2749889" y="1161322"/>
                </a:lnTo>
                <a:lnTo>
                  <a:pt x="2728692" y="1175606"/>
                </a:lnTo>
                <a:lnTo>
                  <a:pt x="2702725" y="1180848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5007880" y="4098674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5" h="828675">
                <a:moveTo>
                  <a:pt x="1901414" y="828423"/>
                </a:moveTo>
                <a:lnTo>
                  <a:pt x="66671" y="828423"/>
                </a:lnTo>
                <a:lnTo>
                  <a:pt x="40722" y="823179"/>
                </a:lnTo>
                <a:lnTo>
                  <a:pt x="19533" y="808894"/>
                </a:lnTo>
                <a:lnTo>
                  <a:pt x="5249" y="787706"/>
                </a:lnTo>
                <a:lnTo>
                  <a:pt x="0" y="761757"/>
                </a:lnTo>
                <a:lnTo>
                  <a:pt x="0" y="66661"/>
                </a:lnTo>
                <a:lnTo>
                  <a:pt x="19533" y="19523"/>
                </a:lnTo>
                <a:lnTo>
                  <a:pt x="66671" y="0"/>
                </a:lnTo>
                <a:lnTo>
                  <a:pt x="1901414" y="0"/>
                </a:lnTo>
                <a:lnTo>
                  <a:pt x="1927380" y="5239"/>
                </a:lnTo>
                <a:lnTo>
                  <a:pt x="1948578" y="19523"/>
                </a:lnTo>
                <a:lnTo>
                  <a:pt x="1962866" y="40712"/>
                </a:lnTo>
                <a:lnTo>
                  <a:pt x="1967506" y="63699"/>
                </a:lnTo>
                <a:lnTo>
                  <a:pt x="1967506" y="764719"/>
                </a:lnTo>
                <a:lnTo>
                  <a:pt x="1962866" y="787706"/>
                </a:lnTo>
                <a:lnTo>
                  <a:pt x="1948578" y="808894"/>
                </a:lnTo>
                <a:lnTo>
                  <a:pt x="1927380" y="823179"/>
                </a:lnTo>
                <a:lnTo>
                  <a:pt x="1901414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725345" y="4355914"/>
            <a:ext cx="533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投影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12894" y="4546200"/>
            <a:ext cx="2249170" cy="7302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sz="2000" spc="-2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雨傘影像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sz="2000" spc="-1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(由上往下拍攝傘面)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2033105" y="5341314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5" h="828675">
                <a:moveTo>
                  <a:pt x="1901435" y="828423"/>
                </a:moveTo>
                <a:lnTo>
                  <a:pt x="66661" y="828423"/>
                </a:lnTo>
                <a:lnTo>
                  <a:pt x="40712" y="823178"/>
                </a:lnTo>
                <a:lnTo>
                  <a:pt x="19524" y="808894"/>
                </a:lnTo>
                <a:lnTo>
                  <a:pt x="5239" y="787705"/>
                </a:lnTo>
                <a:lnTo>
                  <a:pt x="0" y="761756"/>
                </a:lnTo>
                <a:lnTo>
                  <a:pt x="0" y="66660"/>
                </a:lnTo>
                <a:lnTo>
                  <a:pt x="19524" y="19523"/>
                </a:lnTo>
                <a:lnTo>
                  <a:pt x="66661" y="0"/>
                </a:lnTo>
                <a:lnTo>
                  <a:pt x="1901435" y="0"/>
                </a:lnTo>
                <a:lnTo>
                  <a:pt x="1927384" y="5238"/>
                </a:lnTo>
                <a:lnTo>
                  <a:pt x="1948572" y="19523"/>
                </a:lnTo>
                <a:lnTo>
                  <a:pt x="1962857" y="40711"/>
                </a:lnTo>
                <a:lnTo>
                  <a:pt x="1967506" y="63746"/>
                </a:lnTo>
                <a:lnTo>
                  <a:pt x="1967506" y="764671"/>
                </a:lnTo>
                <a:lnTo>
                  <a:pt x="1962857" y="787705"/>
                </a:lnTo>
                <a:lnTo>
                  <a:pt x="1948572" y="808894"/>
                </a:lnTo>
                <a:lnTo>
                  <a:pt x="1927384" y="823178"/>
                </a:lnTo>
                <a:lnTo>
                  <a:pt x="1901435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750558" y="5598553"/>
            <a:ext cx="533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國旗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5007880" y="5914142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5" h="828675">
                <a:moveTo>
                  <a:pt x="1901414" y="828423"/>
                </a:moveTo>
                <a:lnTo>
                  <a:pt x="66671" y="828423"/>
                </a:lnTo>
                <a:lnTo>
                  <a:pt x="40722" y="823191"/>
                </a:lnTo>
                <a:lnTo>
                  <a:pt x="19533" y="808903"/>
                </a:lnTo>
                <a:lnTo>
                  <a:pt x="5249" y="787705"/>
                </a:lnTo>
                <a:lnTo>
                  <a:pt x="0" y="761739"/>
                </a:lnTo>
                <a:lnTo>
                  <a:pt x="0" y="66673"/>
                </a:lnTo>
                <a:lnTo>
                  <a:pt x="5249" y="40724"/>
                </a:lnTo>
                <a:lnTo>
                  <a:pt x="19533" y="19536"/>
                </a:lnTo>
                <a:lnTo>
                  <a:pt x="40722" y="5251"/>
                </a:lnTo>
                <a:lnTo>
                  <a:pt x="66671" y="0"/>
                </a:lnTo>
                <a:lnTo>
                  <a:pt x="1901414" y="0"/>
                </a:lnTo>
                <a:lnTo>
                  <a:pt x="1927380" y="5251"/>
                </a:lnTo>
                <a:lnTo>
                  <a:pt x="1948578" y="19536"/>
                </a:lnTo>
                <a:lnTo>
                  <a:pt x="1962866" y="40724"/>
                </a:lnTo>
                <a:lnTo>
                  <a:pt x="1967506" y="63711"/>
                </a:lnTo>
                <a:lnTo>
                  <a:pt x="1967506" y="764703"/>
                </a:lnTo>
                <a:lnTo>
                  <a:pt x="1962866" y="787705"/>
                </a:lnTo>
                <a:lnTo>
                  <a:pt x="1948578" y="808903"/>
                </a:lnTo>
                <a:lnTo>
                  <a:pt x="1927380" y="823191"/>
                </a:lnTo>
                <a:lnTo>
                  <a:pt x="1901414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725345" y="6171394"/>
            <a:ext cx="533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牆面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76137" y="6588952"/>
            <a:ext cx="2268220" cy="828675"/>
          </a:xfrm>
          <a:custGeom>
            <a:avLst/>
            <a:gdLst/>
            <a:ahLst/>
            <a:cxnLst/>
            <a:rect l="l" t="t" r="r" b="b"/>
            <a:pathLst>
              <a:path w="2268220" h="828675">
                <a:moveTo>
                  <a:pt x="2201289" y="828446"/>
                </a:moveTo>
                <a:lnTo>
                  <a:pt x="66674" y="828446"/>
                </a:lnTo>
                <a:lnTo>
                  <a:pt x="40721" y="823203"/>
                </a:lnTo>
                <a:lnTo>
                  <a:pt x="19527" y="808908"/>
                </a:lnTo>
                <a:lnTo>
                  <a:pt x="5239" y="787709"/>
                </a:lnTo>
                <a:lnTo>
                  <a:pt x="0" y="761756"/>
                </a:lnTo>
                <a:lnTo>
                  <a:pt x="0" y="66690"/>
                </a:lnTo>
                <a:lnTo>
                  <a:pt x="5239" y="40736"/>
                </a:lnTo>
                <a:lnTo>
                  <a:pt x="19527" y="19537"/>
                </a:lnTo>
                <a:lnTo>
                  <a:pt x="40721" y="5242"/>
                </a:lnTo>
                <a:lnTo>
                  <a:pt x="66674" y="0"/>
                </a:lnTo>
                <a:lnTo>
                  <a:pt x="2201289" y="0"/>
                </a:lnTo>
                <a:lnTo>
                  <a:pt x="2227238" y="5242"/>
                </a:lnTo>
                <a:lnTo>
                  <a:pt x="2248427" y="19537"/>
                </a:lnTo>
                <a:lnTo>
                  <a:pt x="2262711" y="40736"/>
                </a:lnTo>
                <a:lnTo>
                  <a:pt x="2267949" y="66690"/>
                </a:lnTo>
                <a:lnTo>
                  <a:pt x="2267949" y="761756"/>
                </a:lnTo>
                <a:lnTo>
                  <a:pt x="2262711" y="787709"/>
                </a:lnTo>
                <a:lnTo>
                  <a:pt x="2248427" y="808908"/>
                </a:lnTo>
                <a:lnTo>
                  <a:pt x="2227238" y="823203"/>
                </a:lnTo>
                <a:lnTo>
                  <a:pt x="2201289" y="828446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81756" y="6846191"/>
            <a:ext cx="205676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顏色標記位置追蹤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975160" y="6588965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4" h="828675">
                <a:moveTo>
                  <a:pt x="1901413" y="828423"/>
                </a:moveTo>
                <a:lnTo>
                  <a:pt x="66670" y="828423"/>
                </a:lnTo>
                <a:lnTo>
                  <a:pt x="40721" y="823191"/>
                </a:lnTo>
                <a:lnTo>
                  <a:pt x="19532" y="808896"/>
                </a:lnTo>
                <a:lnTo>
                  <a:pt x="5248" y="787697"/>
                </a:lnTo>
                <a:lnTo>
                  <a:pt x="0" y="761744"/>
                </a:lnTo>
                <a:lnTo>
                  <a:pt x="0" y="66678"/>
                </a:lnTo>
                <a:lnTo>
                  <a:pt x="19532" y="19525"/>
                </a:lnTo>
                <a:lnTo>
                  <a:pt x="66670" y="0"/>
                </a:lnTo>
                <a:lnTo>
                  <a:pt x="1901413" y="0"/>
                </a:lnTo>
                <a:lnTo>
                  <a:pt x="1927380" y="5230"/>
                </a:lnTo>
                <a:lnTo>
                  <a:pt x="1948577" y="19525"/>
                </a:lnTo>
                <a:lnTo>
                  <a:pt x="1962865" y="40724"/>
                </a:lnTo>
                <a:lnTo>
                  <a:pt x="1967506" y="63719"/>
                </a:lnTo>
                <a:lnTo>
                  <a:pt x="1967506" y="764702"/>
                </a:lnTo>
                <a:lnTo>
                  <a:pt x="1962865" y="787697"/>
                </a:lnTo>
                <a:lnTo>
                  <a:pt x="1948577" y="808896"/>
                </a:lnTo>
                <a:lnTo>
                  <a:pt x="1927380" y="823191"/>
                </a:lnTo>
                <a:lnTo>
                  <a:pt x="1901413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38721" y="6846191"/>
            <a:ext cx="1041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旋轉判定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474330" y="6588965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5" h="828675">
                <a:moveTo>
                  <a:pt x="1901421" y="828423"/>
                </a:moveTo>
                <a:lnTo>
                  <a:pt x="66677" y="828423"/>
                </a:lnTo>
                <a:lnTo>
                  <a:pt x="40724" y="823191"/>
                </a:lnTo>
                <a:lnTo>
                  <a:pt x="19525" y="808896"/>
                </a:lnTo>
                <a:lnTo>
                  <a:pt x="5230" y="787697"/>
                </a:lnTo>
                <a:lnTo>
                  <a:pt x="0" y="761744"/>
                </a:lnTo>
                <a:lnTo>
                  <a:pt x="0" y="66678"/>
                </a:lnTo>
                <a:lnTo>
                  <a:pt x="19525" y="19525"/>
                </a:lnTo>
                <a:lnTo>
                  <a:pt x="66677" y="0"/>
                </a:lnTo>
                <a:lnTo>
                  <a:pt x="1901421" y="0"/>
                </a:lnTo>
                <a:lnTo>
                  <a:pt x="1927374" y="5230"/>
                </a:lnTo>
                <a:lnTo>
                  <a:pt x="1948573" y="19525"/>
                </a:lnTo>
                <a:lnTo>
                  <a:pt x="1962868" y="40724"/>
                </a:lnTo>
                <a:lnTo>
                  <a:pt x="1967506" y="63684"/>
                </a:lnTo>
                <a:lnTo>
                  <a:pt x="1967506" y="764737"/>
                </a:lnTo>
                <a:lnTo>
                  <a:pt x="1962868" y="787697"/>
                </a:lnTo>
                <a:lnTo>
                  <a:pt x="1948573" y="808896"/>
                </a:lnTo>
                <a:lnTo>
                  <a:pt x="1927374" y="823191"/>
                </a:lnTo>
                <a:lnTo>
                  <a:pt x="1901421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37867" y="6846191"/>
            <a:ext cx="1041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國家切換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2033105" y="6742569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5" h="828675">
                <a:moveTo>
                  <a:pt x="1901435" y="828423"/>
                </a:moveTo>
                <a:lnTo>
                  <a:pt x="66661" y="828423"/>
                </a:lnTo>
                <a:lnTo>
                  <a:pt x="40712" y="823181"/>
                </a:lnTo>
                <a:lnTo>
                  <a:pt x="19524" y="808896"/>
                </a:lnTo>
                <a:lnTo>
                  <a:pt x="5239" y="787708"/>
                </a:lnTo>
                <a:lnTo>
                  <a:pt x="0" y="761759"/>
                </a:lnTo>
                <a:lnTo>
                  <a:pt x="0" y="66662"/>
                </a:lnTo>
                <a:lnTo>
                  <a:pt x="5239" y="40713"/>
                </a:lnTo>
                <a:lnTo>
                  <a:pt x="19524" y="19525"/>
                </a:lnTo>
                <a:lnTo>
                  <a:pt x="40712" y="5240"/>
                </a:lnTo>
                <a:lnTo>
                  <a:pt x="66661" y="0"/>
                </a:lnTo>
                <a:lnTo>
                  <a:pt x="1901435" y="0"/>
                </a:lnTo>
                <a:lnTo>
                  <a:pt x="1927384" y="5240"/>
                </a:lnTo>
                <a:lnTo>
                  <a:pt x="1948572" y="19525"/>
                </a:lnTo>
                <a:lnTo>
                  <a:pt x="1962857" y="40713"/>
                </a:lnTo>
                <a:lnTo>
                  <a:pt x="1967506" y="63748"/>
                </a:lnTo>
                <a:lnTo>
                  <a:pt x="1967506" y="764673"/>
                </a:lnTo>
                <a:lnTo>
                  <a:pt x="1962857" y="787708"/>
                </a:lnTo>
                <a:lnTo>
                  <a:pt x="1948572" y="808896"/>
                </a:lnTo>
                <a:lnTo>
                  <a:pt x="1927384" y="823181"/>
                </a:lnTo>
                <a:lnTo>
                  <a:pt x="1901435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496657" y="6999810"/>
            <a:ext cx="1041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絲滑轉場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2033105" y="8143823"/>
            <a:ext cx="1967864" cy="828675"/>
          </a:xfrm>
          <a:custGeom>
            <a:avLst/>
            <a:gdLst/>
            <a:ahLst/>
            <a:cxnLst/>
            <a:rect l="l" t="t" r="r" b="b"/>
            <a:pathLst>
              <a:path w="1967865" h="828675">
                <a:moveTo>
                  <a:pt x="1901435" y="828423"/>
                </a:moveTo>
                <a:lnTo>
                  <a:pt x="66661" y="828423"/>
                </a:lnTo>
                <a:lnTo>
                  <a:pt x="40712" y="823184"/>
                </a:lnTo>
                <a:lnTo>
                  <a:pt x="19524" y="808899"/>
                </a:lnTo>
                <a:lnTo>
                  <a:pt x="5239" y="787711"/>
                </a:lnTo>
                <a:lnTo>
                  <a:pt x="0" y="761762"/>
                </a:lnTo>
                <a:lnTo>
                  <a:pt x="0" y="66665"/>
                </a:lnTo>
                <a:lnTo>
                  <a:pt x="5239" y="40716"/>
                </a:lnTo>
                <a:lnTo>
                  <a:pt x="19524" y="19528"/>
                </a:lnTo>
                <a:lnTo>
                  <a:pt x="40712" y="5243"/>
                </a:lnTo>
                <a:lnTo>
                  <a:pt x="66661" y="0"/>
                </a:lnTo>
                <a:lnTo>
                  <a:pt x="1901435" y="0"/>
                </a:lnTo>
                <a:lnTo>
                  <a:pt x="1927384" y="5243"/>
                </a:lnTo>
                <a:lnTo>
                  <a:pt x="1948572" y="19528"/>
                </a:lnTo>
                <a:lnTo>
                  <a:pt x="1962857" y="40716"/>
                </a:lnTo>
                <a:lnTo>
                  <a:pt x="1967506" y="63751"/>
                </a:lnTo>
                <a:lnTo>
                  <a:pt x="1967506" y="764676"/>
                </a:lnTo>
                <a:lnTo>
                  <a:pt x="1962857" y="787711"/>
                </a:lnTo>
                <a:lnTo>
                  <a:pt x="1948572" y="808899"/>
                </a:lnTo>
                <a:lnTo>
                  <a:pt x="1927384" y="823184"/>
                </a:lnTo>
                <a:lnTo>
                  <a:pt x="1901435" y="828423"/>
                </a:lnTo>
                <a:close/>
              </a:path>
            </a:pathLst>
          </a:custGeom>
          <a:solidFill>
            <a:srgbClr val="FAF5F1"/>
          </a:solidFill>
        </p:spPr>
        <p:txBody>
          <a:bodyPr wrap="square" lIns="0" tIns="0" rIns="0" bIns="0" rtlCol="0"/>
          <a:lstStyle/>
          <a:p>
            <a:endParaRPr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496657" y="8401067"/>
            <a:ext cx="1041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174F78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俚語雨景</a:t>
            </a:r>
            <a:endParaRPr sz="2000"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233915" y="2338263"/>
            <a:ext cx="13834744" cy="6238875"/>
            <a:chOff x="2233915" y="2338263"/>
            <a:chExt cx="13834744" cy="6238875"/>
          </a:xfrm>
        </p:grpSpPr>
        <p:sp>
          <p:nvSpPr>
            <p:cNvPr id="37" name="object 37"/>
            <p:cNvSpPr/>
            <p:nvPr/>
          </p:nvSpPr>
          <p:spPr>
            <a:xfrm>
              <a:off x="3015852" y="3267882"/>
              <a:ext cx="361950" cy="0"/>
            </a:xfrm>
            <a:custGeom>
              <a:avLst/>
              <a:gdLst/>
              <a:ahLst/>
              <a:cxnLst/>
              <a:rect l="l" t="t" r="r" b="b"/>
              <a:pathLst>
                <a:path w="361950">
                  <a:moveTo>
                    <a:pt x="0" y="0"/>
                  </a:moveTo>
                  <a:lnTo>
                    <a:pt x="361353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3310531" y="3210732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5392948" y="3267882"/>
              <a:ext cx="361950" cy="0"/>
            </a:xfrm>
            <a:custGeom>
              <a:avLst/>
              <a:gdLst/>
              <a:ahLst/>
              <a:cxnLst/>
              <a:rect l="l" t="t" r="r" b="b"/>
              <a:pathLst>
                <a:path w="361950">
                  <a:moveTo>
                    <a:pt x="0" y="0"/>
                  </a:moveTo>
                  <a:lnTo>
                    <a:pt x="361353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5687627" y="3210732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199" y="57150"/>
                  </a:lnTo>
                  <a:lnTo>
                    <a:pt x="0" y="11430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7770022" y="3267882"/>
              <a:ext cx="361950" cy="0"/>
            </a:xfrm>
            <a:custGeom>
              <a:avLst/>
              <a:gdLst/>
              <a:ahLst/>
              <a:cxnLst/>
              <a:rect l="l" t="t" r="r" b="b"/>
              <a:pathLst>
                <a:path w="361950">
                  <a:moveTo>
                    <a:pt x="0" y="0"/>
                  </a:moveTo>
                  <a:lnTo>
                    <a:pt x="361353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8064701" y="3210732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3015852" y="4927091"/>
              <a:ext cx="308610" cy="0"/>
            </a:xfrm>
            <a:custGeom>
              <a:avLst/>
              <a:gdLst/>
              <a:ahLst/>
              <a:cxnLst/>
              <a:rect l="l" t="t" r="r" b="b"/>
              <a:pathLst>
                <a:path w="308610">
                  <a:moveTo>
                    <a:pt x="0" y="0"/>
                  </a:moveTo>
                  <a:lnTo>
                    <a:pt x="308063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3257241" y="4869941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2310115" y="5536569"/>
              <a:ext cx="2427605" cy="1024255"/>
            </a:xfrm>
            <a:custGeom>
              <a:avLst/>
              <a:gdLst/>
              <a:ahLst/>
              <a:cxnLst/>
              <a:rect l="l" t="t" r="r" b="b"/>
              <a:pathLst>
                <a:path w="2427604" h="1024254">
                  <a:moveTo>
                    <a:pt x="2427084" y="0"/>
                  </a:moveTo>
                  <a:lnTo>
                    <a:pt x="2427084" y="288069"/>
                  </a:lnTo>
                  <a:lnTo>
                    <a:pt x="2422440" y="334140"/>
                  </a:lnTo>
                  <a:lnTo>
                    <a:pt x="2409120" y="377050"/>
                  </a:lnTo>
                  <a:lnTo>
                    <a:pt x="2388043" y="415881"/>
                  </a:lnTo>
                  <a:lnTo>
                    <a:pt x="2360129" y="449713"/>
                  </a:lnTo>
                  <a:lnTo>
                    <a:pt x="2326297" y="477627"/>
                  </a:lnTo>
                  <a:lnTo>
                    <a:pt x="2287466" y="498704"/>
                  </a:lnTo>
                  <a:lnTo>
                    <a:pt x="2244555" y="512024"/>
                  </a:lnTo>
                  <a:lnTo>
                    <a:pt x="2198484" y="516669"/>
                  </a:lnTo>
                  <a:lnTo>
                    <a:pt x="228600" y="516669"/>
                  </a:lnTo>
                  <a:lnTo>
                    <a:pt x="182529" y="521313"/>
                  </a:lnTo>
                  <a:lnTo>
                    <a:pt x="139618" y="534633"/>
                  </a:lnTo>
                  <a:lnTo>
                    <a:pt x="100787" y="555710"/>
                  </a:lnTo>
                  <a:lnTo>
                    <a:pt x="66955" y="583624"/>
                  </a:lnTo>
                  <a:lnTo>
                    <a:pt x="39041" y="617456"/>
                  </a:lnTo>
                  <a:lnTo>
                    <a:pt x="17964" y="656287"/>
                  </a:lnTo>
                  <a:lnTo>
                    <a:pt x="4644" y="699198"/>
                  </a:lnTo>
                  <a:lnTo>
                    <a:pt x="0" y="745269"/>
                  </a:lnTo>
                  <a:lnTo>
                    <a:pt x="0" y="1023813"/>
                  </a:lnTo>
                </a:path>
              </a:pathLst>
            </a:custGeom>
            <a:ln w="38099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2252965" y="6493708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300" y="0"/>
                  </a:moveTo>
                  <a:lnTo>
                    <a:pt x="57150" y="7620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3463137" y="7003176"/>
              <a:ext cx="483870" cy="0"/>
            </a:xfrm>
            <a:custGeom>
              <a:avLst/>
              <a:gdLst/>
              <a:ahLst/>
              <a:cxnLst/>
              <a:rect l="l" t="t" r="r" b="b"/>
              <a:pathLst>
                <a:path w="483870">
                  <a:moveTo>
                    <a:pt x="0" y="0"/>
                  </a:moveTo>
                  <a:lnTo>
                    <a:pt x="483440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3879903" y="6946026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5962314" y="7003176"/>
              <a:ext cx="483870" cy="0"/>
            </a:xfrm>
            <a:custGeom>
              <a:avLst/>
              <a:gdLst/>
              <a:ahLst/>
              <a:cxnLst/>
              <a:rect l="l" t="t" r="r" b="b"/>
              <a:pathLst>
                <a:path w="483870">
                  <a:moveTo>
                    <a:pt x="0" y="0"/>
                  </a:moveTo>
                  <a:lnTo>
                    <a:pt x="483440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6379080" y="6946026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9144000" y="3701155"/>
              <a:ext cx="892810" cy="812165"/>
            </a:xfrm>
            <a:custGeom>
              <a:avLst/>
              <a:gdLst/>
              <a:ahLst/>
              <a:cxnLst/>
              <a:rect l="l" t="t" r="r" b="b"/>
              <a:pathLst>
                <a:path w="892809" h="812164">
                  <a:moveTo>
                    <a:pt x="0" y="0"/>
                  </a:moveTo>
                  <a:lnTo>
                    <a:pt x="0" y="583140"/>
                  </a:lnTo>
                  <a:lnTo>
                    <a:pt x="4644" y="629211"/>
                  </a:lnTo>
                  <a:lnTo>
                    <a:pt x="17964" y="672121"/>
                  </a:lnTo>
                  <a:lnTo>
                    <a:pt x="39041" y="710952"/>
                  </a:lnTo>
                  <a:lnTo>
                    <a:pt x="66955" y="744784"/>
                  </a:lnTo>
                  <a:lnTo>
                    <a:pt x="100787" y="772699"/>
                  </a:lnTo>
                  <a:lnTo>
                    <a:pt x="139618" y="793775"/>
                  </a:lnTo>
                  <a:lnTo>
                    <a:pt x="182529" y="807096"/>
                  </a:lnTo>
                  <a:lnTo>
                    <a:pt x="228600" y="811740"/>
                  </a:lnTo>
                  <a:lnTo>
                    <a:pt x="892427" y="81174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9969752" y="4455746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8461491" y="4512899"/>
              <a:ext cx="1575435" cy="2490470"/>
            </a:xfrm>
            <a:custGeom>
              <a:avLst/>
              <a:gdLst/>
              <a:ahLst/>
              <a:cxnLst/>
              <a:rect l="l" t="t" r="r" b="b"/>
              <a:pathLst>
                <a:path w="1575434" h="2490470">
                  <a:moveTo>
                    <a:pt x="0" y="2490292"/>
                  </a:moveTo>
                  <a:lnTo>
                    <a:pt x="563634" y="2490292"/>
                  </a:lnTo>
                  <a:lnTo>
                    <a:pt x="609705" y="2485647"/>
                  </a:lnTo>
                  <a:lnTo>
                    <a:pt x="652615" y="2472327"/>
                  </a:lnTo>
                  <a:lnTo>
                    <a:pt x="691446" y="2451251"/>
                  </a:lnTo>
                  <a:lnTo>
                    <a:pt x="725278" y="2423337"/>
                  </a:lnTo>
                  <a:lnTo>
                    <a:pt x="753192" y="2389505"/>
                  </a:lnTo>
                  <a:lnTo>
                    <a:pt x="774269" y="2350674"/>
                  </a:lnTo>
                  <a:lnTo>
                    <a:pt x="787589" y="2307763"/>
                  </a:lnTo>
                  <a:lnTo>
                    <a:pt x="792234" y="2261692"/>
                  </a:lnTo>
                  <a:lnTo>
                    <a:pt x="792234" y="228600"/>
                  </a:lnTo>
                  <a:lnTo>
                    <a:pt x="796878" y="182529"/>
                  </a:lnTo>
                  <a:lnTo>
                    <a:pt x="810198" y="139618"/>
                  </a:lnTo>
                  <a:lnTo>
                    <a:pt x="831275" y="100787"/>
                  </a:lnTo>
                  <a:lnTo>
                    <a:pt x="859189" y="66955"/>
                  </a:lnTo>
                  <a:lnTo>
                    <a:pt x="893021" y="39041"/>
                  </a:lnTo>
                  <a:lnTo>
                    <a:pt x="931852" y="17964"/>
                  </a:lnTo>
                  <a:lnTo>
                    <a:pt x="974762" y="4644"/>
                  </a:lnTo>
                  <a:lnTo>
                    <a:pt x="1020832" y="0"/>
                  </a:lnTo>
                  <a:lnTo>
                    <a:pt x="1574939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9969756" y="4455749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12052157" y="2800099"/>
              <a:ext cx="965200" cy="1713230"/>
            </a:xfrm>
            <a:custGeom>
              <a:avLst/>
              <a:gdLst/>
              <a:ahLst/>
              <a:cxnLst/>
              <a:rect l="l" t="t" r="r" b="b"/>
              <a:pathLst>
                <a:path w="965200" h="1713229">
                  <a:moveTo>
                    <a:pt x="0" y="1712785"/>
                  </a:moveTo>
                  <a:lnTo>
                    <a:pt x="736401" y="1712785"/>
                  </a:lnTo>
                  <a:lnTo>
                    <a:pt x="782472" y="1708141"/>
                  </a:lnTo>
                  <a:lnTo>
                    <a:pt x="825384" y="1694821"/>
                  </a:lnTo>
                  <a:lnTo>
                    <a:pt x="864215" y="1673744"/>
                  </a:lnTo>
                  <a:lnTo>
                    <a:pt x="898048" y="1645830"/>
                  </a:lnTo>
                  <a:lnTo>
                    <a:pt x="925963" y="1611998"/>
                  </a:lnTo>
                  <a:lnTo>
                    <a:pt x="947041" y="1573167"/>
                  </a:lnTo>
                  <a:lnTo>
                    <a:pt x="960361" y="1530256"/>
                  </a:lnTo>
                  <a:lnTo>
                    <a:pt x="965006" y="1484185"/>
                  </a:lnTo>
                  <a:lnTo>
                    <a:pt x="965006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12960009" y="2790574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76200"/>
                  </a:moveTo>
                  <a:lnTo>
                    <a:pt x="57154" y="0"/>
                  </a:lnTo>
                  <a:lnTo>
                    <a:pt x="114304" y="7620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12052157" y="4512899"/>
              <a:ext cx="965200" cy="800100"/>
            </a:xfrm>
            <a:custGeom>
              <a:avLst/>
              <a:gdLst/>
              <a:ahLst/>
              <a:cxnLst/>
              <a:rect l="l" t="t" r="r" b="b"/>
              <a:pathLst>
                <a:path w="965200" h="800100">
                  <a:moveTo>
                    <a:pt x="0" y="0"/>
                  </a:moveTo>
                  <a:lnTo>
                    <a:pt x="736401" y="0"/>
                  </a:lnTo>
                  <a:lnTo>
                    <a:pt x="782472" y="4644"/>
                  </a:lnTo>
                  <a:lnTo>
                    <a:pt x="825384" y="17964"/>
                  </a:lnTo>
                  <a:lnTo>
                    <a:pt x="864215" y="39041"/>
                  </a:lnTo>
                  <a:lnTo>
                    <a:pt x="898048" y="66955"/>
                  </a:lnTo>
                  <a:lnTo>
                    <a:pt x="925963" y="100787"/>
                  </a:lnTo>
                  <a:lnTo>
                    <a:pt x="947041" y="139618"/>
                  </a:lnTo>
                  <a:lnTo>
                    <a:pt x="960361" y="182529"/>
                  </a:lnTo>
                  <a:lnTo>
                    <a:pt x="965006" y="228600"/>
                  </a:lnTo>
                  <a:lnTo>
                    <a:pt x="965006" y="799851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12960009" y="5246075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304" y="0"/>
                  </a:moveTo>
                  <a:lnTo>
                    <a:pt x="57154" y="76199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13017154" y="6188780"/>
              <a:ext cx="0" cy="525780"/>
            </a:xfrm>
            <a:custGeom>
              <a:avLst/>
              <a:gdLst/>
              <a:ahLst/>
              <a:cxnLst/>
              <a:rect l="l" t="t" r="r" b="b"/>
              <a:pathLst>
                <a:path h="525779">
                  <a:moveTo>
                    <a:pt x="0" y="0"/>
                  </a:moveTo>
                  <a:lnTo>
                    <a:pt x="0" y="525203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12960004" y="6647309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300" y="0"/>
                  </a:moveTo>
                  <a:lnTo>
                    <a:pt x="57150" y="7620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13017154" y="7590037"/>
              <a:ext cx="0" cy="525780"/>
            </a:xfrm>
            <a:custGeom>
              <a:avLst/>
              <a:gdLst/>
              <a:ahLst/>
              <a:cxnLst/>
              <a:rect l="l" t="t" r="r" b="b"/>
              <a:pathLst>
                <a:path h="525779">
                  <a:moveTo>
                    <a:pt x="0" y="0"/>
                  </a:moveTo>
                  <a:lnTo>
                    <a:pt x="0" y="525203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12960004" y="8048566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300" y="0"/>
                  </a:moveTo>
                  <a:lnTo>
                    <a:pt x="57150" y="7620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14020251" y="2357313"/>
              <a:ext cx="1971675" cy="1713230"/>
            </a:xfrm>
            <a:custGeom>
              <a:avLst/>
              <a:gdLst/>
              <a:ahLst/>
              <a:cxnLst/>
              <a:rect l="l" t="t" r="r" b="b"/>
              <a:pathLst>
                <a:path w="1971675" h="1713229">
                  <a:moveTo>
                    <a:pt x="0" y="0"/>
                  </a:moveTo>
                  <a:lnTo>
                    <a:pt x="1743075" y="0"/>
                  </a:lnTo>
                  <a:lnTo>
                    <a:pt x="1789146" y="4644"/>
                  </a:lnTo>
                  <a:lnTo>
                    <a:pt x="1832057" y="17964"/>
                  </a:lnTo>
                  <a:lnTo>
                    <a:pt x="1870888" y="39041"/>
                  </a:lnTo>
                  <a:lnTo>
                    <a:pt x="1904720" y="66955"/>
                  </a:lnTo>
                  <a:lnTo>
                    <a:pt x="1932634" y="100787"/>
                  </a:lnTo>
                  <a:lnTo>
                    <a:pt x="1953710" y="139618"/>
                  </a:lnTo>
                  <a:lnTo>
                    <a:pt x="1967030" y="182529"/>
                  </a:lnTo>
                  <a:lnTo>
                    <a:pt x="1971675" y="228600"/>
                  </a:lnTo>
                  <a:lnTo>
                    <a:pt x="1971675" y="1712785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15934775" y="4003424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300" y="0"/>
                  </a:moveTo>
                  <a:lnTo>
                    <a:pt x="57150" y="7620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14020251" y="4512899"/>
              <a:ext cx="959485" cy="4045585"/>
            </a:xfrm>
            <a:custGeom>
              <a:avLst/>
              <a:gdLst/>
              <a:ahLst/>
              <a:cxnLst/>
              <a:rect l="l" t="t" r="r" b="b"/>
              <a:pathLst>
                <a:path w="959484" h="4045584">
                  <a:moveTo>
                    <a:pt x="0" y="4045153"/>
                  </a:moveTo>
                  <a:lnTo>
                    <a:pt x="255686" y="4045153"/>
                  </a:lnTo>
                  <a:lnTo>
                    <a:pt x="301757" y="4040508"/>
                  </a:lnTo>
                  <a:lnTo>
                    <a:pt x="344667" y="4027187"/>
                  </a:lnTo>
                  <a:lnTo>
                    <a:pt x="383498" y="4006109"/>
                  </a:lnTo>
                  <a:lnTo>
                    <a:pt x="417331" y="3978194"/>
                  </a:lnTo>
                  <a:lnTo>
                    <a:pt x="445245" y="3944362"/>
                  </a:lnTo>
                  <a:lnTo>
                    <a:pt x="466321" y="3905531"/>
                  </a:lnTo>
                  <a:lnTo>
                    <a:pt x="479641" y="3862621"/>
                  </a:lnTo>
                  <a:lnTo>
                    <a:pt x="484286" y="3816553"/>
                  </a:lnTo>
                  <a:lnTo>
                    <a:pt x="484286" y="228600"/>
                  </a:lnTo>
                  <a:lnTo>
                    <a:pt x="488930" y="182529"/>
                  </a:lnTo>
                  <a:lnTo>
                    <a:pt x="502250" y="139618"/>
                  </a:lnTo>
                  <a:lnTo>
                    <a:pt x="523327" y="100787"/>
                  </a:lnTo>
                  <a:lnTo>
                    <a:pt x="551241" y="66955"/>
                  </a:lnTo>
                  <a:lnTo>
                    <a:pt x="585073" y="39041"/>
                  </a:lnTo>
                  <a:lnTo>
                    <a:pt x="623904" y="17964"/>
                  </a:lnTo>
                  <a:lnTo>
                    <a:pt x="666815" y="4644"/>
                  </a:lnTo>
                  <a:lnTo>
                    <a:pt x="712886" y="0"/>
                  </a:lnTo>
                  <a:lnTo>
                    <a:pt x="959043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14912624" y="4455749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195" y="57150"/>
                  </a:lnTo>
                  <a:lnTo>
                    <a:pt x="0" y="11430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15991941" y="4946141"/>
              <a:ext cx="0" cy="939800"/>
            </a:xfrm>
            <a:custGeom>
              <a:avLst/>
              <a:gdLst/>
              <a:ahLst/>
              <a:cxnLst/>
              <a:rect l="l" t="t" r="r" b="b"/>
              <a:pathLst>
                <a:path h="939800">
                  <a:moveTo>
                    <a:pt x="0" y="0"/>
                  </a:moveTo>
                  <a:lnTo>
                    <a:pt x="0" y="939412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15934791" y="5818883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300" y="0"/>
                  </a:moveTo>
                  <a:lnTo>
                    <a:pt x="57150" y="76196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>
                <a:ln>
                  <a:solidFill>
                    <a:srgbClr val="FFCC00"/>
                  </a:solidFill>
                </a:ln>
                <a:solidFill>
                  <a:srgbClr val="FFCC00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69">
            <a:extLst>
              <a:ext uri="{FF2B5EF4-FFF2-40B4-BE49-F238E27FC236}">
                <a16:creationId xmlns:a16="http://schemas.microsoft.com/office/drawing/2014/main" id="{5C6751F6-2F6F-1F3B-2EA0-6B87388791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A781EC4-1FB9-C808-523D-F3543C325F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70"/>
            <a:ext cx="18288000" cy="10287000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6000" y="996950"/>
            <a:ext cx="29387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TW" altLang="en-US" b="0" spc="-280" dirty="0">
                <a:solidFill>
                  <a:srgbClr val="FFCC00"/>
                </a:solidFill>
                <a:latin typeface="Zen Maru Gothic Medium" pitchFamily="2" charset="-120"/>
                <a:ea typeface="Zen Maru Gothic Medium" pitchFamily="2" charset="-120"/>
              </a:rPr>
              <a:t>技術分析</a:t>
            </a:r>
            <a:endParaRPr b="0" spc="-280" dirty="0">
              <a:solidFill>
                <a:srgbClr val="FFCC00"/>
              </a:solidFill>
              <a:latin typeface="Zen Maru Gothic Medium" pitchFamily="2" charset="-120"/>
              <a:ea typeface="Zen Maru Gothic Medium" pitchFamily="2" charset="-120"/>
            </a:endParaRPr>
          </a:p>
        </p:txBody>
      </p:sp>
      <p:sp>
        <p:nvSpPr>
          <p:cNvPr id="2" name="object 15">
            <a:extLst>
              <a:ext uri="{FF2B5EF4-FFF2-40B4-BE49-F238E27FC236}">
                <a16:creationId xmlns:a16="http://schemas.microsoft.com/office/drawing/2014/main" id="{ED9CB2EC-5720-8929-ECEB-2772DA19A6E1}"/>
              </a:ext>
            </a:extLst>
          </p:cNvPr>
          <p:cNvSpPr txBox="1"/>
          <p:nvPr/>
        </p:nvSpPr>
        <p:spPr>
          <a:xfrm>
            <a:off x="1828800" y="2004661"/>
            <a:ext cx="15316200" cy="7521931"/>
          </a:xfrm>
          <a:prstGeom prst="rect">
            <a:avLst/>
          </a:prstGeom>
        </p:spPr>
        <p:txBody>
          <a:bodyPr vert="horz" wrap="square" lIns="0" tIns="227965" rIns="0" bIns="0" rtlCol="0">
            <a:spAutoFit/>
          </a:bodyPr>
          <a:lstStyle/>
          <a:p>
            <a:pPr marL="52705">
              <a:spcBef>
                <a:spcPts val="1795"/>
              </a:spcBef>
            </a:pPr>
            <a:r>
              <a:rPr sz="3500" b="1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⼈</a:t>
            </a:r>
            <a:r>
              <a:rPr sz="3500" b="1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algun Gothic"/>
              </a:rPr>
              <a:t>物辨識</a:t>
            </a:r>
            <a:endParaRPr lang="en-US" sz="3500" b="1" dirty="0">
              <a:solidFill>
                <a:schemeClr val="bg1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Malgun Gothic"/>
            </a:endParaRPr>
          </a:p>
          <a:p>
            <a:pPr marL="509905" indent="-457200">
              <a:spcBef>
                <a:spcPts val="1795"/>
              </a:spcBef>
              <a:buFont typeface="Arial" panose="020B0604020202020204" pitchFamily="34" charset="0"/>
              <a:buChar char="•"/>
            </a:pPr>
            <a:r>
              <a:rPr sz="30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Century Gothic"/>
              </a:rPr>
              <a:t>p5.js + </a:t>
            </a:r>
            <a:r>
              <a:rPr sz="300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影像處理</a:t>
            </a:r>
            <a:endParaRPr lang="en-US" sz="3000" dirty="0">
              <a:solidFill>
                <a:schemeClr val="bg1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  <a:p>
            <a:pPr marL="509905" indent="-457200">
              <a:spcBef>
                <a:spcPts val="1795"/>
              </a:spcBef>
              <a:buFont typeface="Arial" panose="020B0604020202020204" pitchFamily="34" charset="0"/>
              <a:buChar char="•"/>
            </a:pPr>
            <a:r>
              <a:rPr sz="300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透過攝影機擷取</a:t>
            </a:r>
            <a:r>
              <a:rPr lang="zh-TW" altLang="en-US" sz="30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人物</a:t>
            </a:r>
            <a:r>
              <a:rPr sz="300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影像</a:t>
            </a:r>
            <a:r>
              <a:rPr sz="30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， 利</a:t>
            </a:r>
            <a:r>
              <a:rPr lang="zh-TW" altLang="en-US" sz="30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用</a:t>
            </a:r>
            <a:r>
              <a:rPr sz="300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背景分離</a:t>
            </a:r>
            <a:r>
              <a:rPr sz="30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∕</a:t>
            </a:r>
            <a:r>
              <a:rPr lang="zh-TW" altLang="en-US" sz="30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人</a:t>
            </a:r>
            <a:r>
              <a:rPr sz="300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物去背（</a:t>
            </a:r>
            <a:r>
              <a:rPr sz="300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Century Gothic"/>
              </a:rPr>
              <a:t>Mask</a:t>
            </a:r>
            <a:r>
              <a:rPr sz="30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）	</a:t>
            </a:r>
            <a:r>
              <a:rPr sz="300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取得</a:t>
            </a:r>
            <a:r>
              <a:rPr lang="zh-TW" altLang="en-US" sz="30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人</a:t>
            </a:r>
            <a:r>
              <a:rPr sz="300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物與傘輪廓將偵測到的輪廓填滿</a:t>
            </a:r>
            <a:r>
              <a:rPr lang="zh-TW" altLang="en-US" sz="30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黑色</a:t>
            </a:r>
            <a:r>
              <a:rPr sz="30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、 背景設為透明， </a:t>
            </a:r>
            <a:r>
              <a:rPr lang="zh-TW" altLang="en-US" sz="30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生</a:t>
            </a:r>
            <a:r>
              <a:rPr sz="30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成</a:t>
            </a:r>
            <a:r>
              <a:rPr lang="zh-TW" altLang="en-US" sz="30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人</a:t>
            </a:r>
            <a:r>
              <a:rPr sz="300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物＋雨傘剪影並即時投影</a:t>
            </a:r>
            <a:endParaRPr sz="3000" dirty="0">
              <a:solidFill>
                <a:schemeClr val="bg1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  <a:p>
            <a:pPr marL="12700">
              <a:spcBef>
                <a:spcPts val="2495"/>
              </a:spcBef>
            </a:pPr>
            <a:r>
              <a:rPr sz="3150" b="1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algun Gothic"/>
              </a:rPr>
              <a:t>雨傘轉速過快</a:t>
            </a:r>
            <a:endParaRPr sz="3150" dirty="0">
              <a:solidFill>
                <a:schemeClr val="bg1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Malgun Gothic"/>
            </a:endParaRPr>
          </a:p>
          <a:p>
            <a:pPr marL="1057910" indent="-457200">
              <a:spcBef>
                <a:spcPts val="2490"/>
              </a:spcBef>
              <a:buFont typeface="Arial" panose="020B0604020202020204" pitchFamily="34" charset="0"/>
              <a:buChar char="•"/>
            </a:pPr>
            <a:r>
              <a:rPr sz="315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設定旋轉</a:t>
            </a:r>
            <a:r>
              <a:rPr lang="zh-TW" altLang="en-US"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角</a:t>
            </a:r>
            <a:r>
              <a:rPr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度下限值（</a:t>
            </a:r>
            <a:r>
              <a:rPr sz="280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Century Gothic"/>
              </a:rPr>
              <a:t>180</a:t>
            </a:r>
            <a:r>
              <a:rPr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度） ， </a:t>
            </a:r>
            <a:r>
              <a:rPr sz="315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避免</a:t>
            </a:r>
            <a:r>
              <a:rPr lang="zh-TW" altLang="en-US"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手</a:t>
            </a:r>
            <a:r>
              <a:rPr sz="315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抖誤觸</a:t>
            </a:r>
            <a:endParaRPr sz="3150" dirty="0">
              <a:solidFill>
                <a:schemeClr val="bg1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  <a:p>
            <a:pPr marL="1057910" indent="-457200">
              <a:spcBef>
                <a:spcPts val="1245"/>
              </a:spcBef>
              <a:buFont typeface="Arial" panose="020B0604020202020204" pitchFamily="34" charset="0"/>
              <a:buChar char="•"/>
            </a:pPr>
            <a:r>
              <a:rPr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無旋轉上限， 多圈旋轉僅計算⼀次</a:t>
            </a:r>
          </a:p>
          <a:p>
            <a:pPr marL="1057910" indent="-457200">
              <a:spcBef>
                <a:spcPts val="1245"/>
              </a:spcBef>
              <a:buFont typeface="Arial" panose="020B0604020202020204" pitchFamily="34" charset="0"/>
              <a:buChar char="•"/>
            </a:pPr>
            <a:r>
              <a:rPr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停</a:t>
            </a:r>
            <a:r>
              <a:rPr lang="zh-TW" altLang="en-US"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止</a:t>
            </a:r>
            <a:r>
              <a:rPr sz="315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後才可再次觸發國家切換</a:t>
            </a:r>
            <a:endParaRPr sz="3150" dirty="0">
              <a:solidFill>
                <a:schemeClr val="bg1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  <a:p>
            <a:pPr marL="86995">
              <a:spcBef>
                <a:spcPts val="1590"/>
              </a:spcBef>
            </a:pPr>
            <a:r>
              <a:rPr sz="3150" b="1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algun Gothic"/>
              </a:rPr>
              <a:t>背景控制</a:t>
            </a:r>
            <a:endParaRPr sz="3150" dirty="0">
              <a:solidFill>
                <a:schemeClr val="bg1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Malgun Gothic"/>
            </a:endParaRPr>
          </a:p>
          <a:p>
            <a:pPr marL="1057910" indent="-457200">
              <a:spcBef>
                <a:spcPts val="1590"/>
              </a:spcBef>
              <a:buFont typeface="Arial" panose="020B0604020202020204" pitchFamily="34" charset="0"/>
              <a:buChar char="•"/>
            </a:pPr>
            <a:r>
              <a:rPr lang="zh-TW" altLang="en-US"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使用</a:t>
            </a:r>
            <a:r>
              <a:rPr sz="315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單純背景或綠幕</a:t>
            </a:r>
            <a:endParaRPr sz="3150" dirty="0">
              <a:solidFill>
                <a:schemeClr val="bg1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  <a:p>
            <a:pPr marL="1057910" indent="-457200">
              <a:spcBef>
                <a:spcPts val="1245"/>
              </a:spcBef>
              <a:buFont typeface="Arial" panose="020B0604020202020204" pitchFamily="34" charset="0"/>
              <a:buChar char="•"/>
            </a:pPr>
            <a:r>
              <a:rPr sz="315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螢光綠可避免撞</a:t>
            </a:r>
            <a:r>
              <a:rPr lang="zh-TW" altLang="en-US"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色</a:t>
            </a:r>
            <a:r>
              <a:rPr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， </a:t>
            </a:r>
            <a:r>
              <a:rPr sz="315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降低環境</a:t>
            </a:r>
            <a:r>
              <a:rPr lang="zh-TW" altLang="en-US"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干</a:t>
            </a:r>
            <a:r>
              <a:rPr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擾， </a:t>
            </a:r>
            <a:r>
              <a:rPr sz="315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提升</a:t>
            </a:r>
            <a:r>
              <a:rPr lang="zh-TW" altLang="en-US"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人</a:t>
            </a:r>
            <a:r>
              <a:rPr sz="3150" dirty="0" err="1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物辨識穩定度</a:t>
            </a:r>
            <a:endParaRPr sz="3150" dirty="0">
              <a:solidFill>
                <a:schemeClr val="bg1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</p:spTree>
    <p:extLst>
      <p:ext uri="{BB962C8B-B14F-4D97-AF65-F5344CB8AC3E}">
        <p14:creationId xmlns:p14="http://schemas.microsoft.com/office/powerpoint/2010/main" val="42110328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69">
            <a:extLst>
              <a:ext uri="{FF2B5EF4-FFF2-40B4-BE49-F238E27FC236}">
                <a16:creationId xmlns:a16="http://schemas.microsoft.com/office/drawing/2014/main" id="{5C6751F6-2F6F-1F3B-2EA0-6B87388791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A781EC4-1FB9-C808-523D-F3543C325F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70"/>
            <a:ext cx="18288000" cy="10287000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6000" y="996950"/>
            <a:ext cx="29387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TW" altLang="en-US" b="0" spc="-280" dirty="0">
                <a:solidFill>
                  <a:srgbClr val="FFCC00"/>
                </a:solidFill>
                <a:latin typeface="Zen Maru Gothic Medium" pitchFamily="2" charset="-120"/>
                <a:ea typeface="Zen Maru Gothic Medium" pitchFamily="2" charset="-120"/>
              </a:rPr>
              <a:t>社群</a:t>
            </a:r>
            <a:endParaRPr b="0" spc="-280" dirty="0">
              <a:solidFill>
                <a:srgbClr val="FFCC00"/>
              </a:solidFill>
              <a:latin typeface="Zen Maru Gothic Medium" pitchFamily="2" charset="-120"/>
              <a:ea typeface="Zen Maru Gothic Medium" pitchFamily="2" charset="-120"/>
            </a:endParaRPr>
          </a:p>
        </p:txBody>
      </p:sp>
      <p:sp>
        <p:nvSpPr>
          <p:cNvPr id="2" name="object 15">
            <a:extLst>
              <a:ext uri="{FF2B5EF4-FFF2-40B4-BE49-F238E27FC236}">
                <a16:creationId xmlns:a16="http://schemas.microsoft.com/office/drawing/2014/main" id="{ED9CB2EC-5720-8929-ECEB-2772DA19A6E1}"/>
              </a:ext>
            </a:extLst>
          </p:cNvPr>
          <p:cNvSpPr txBox="1"/>
          <p:nvPr/>
        </p:nvSpPr>
        <p:spPr>
          <a:xfrm>
            <a:off x="1828800" y="2004661"/>
            <a:ext cx="15316200" cy="714939"/>
          </a:xfrm>
          <a:prstGeom prst="rect">
            <a:avLst/>
          </a:prstGeom>
        </p:spPr>
        <p:txBody>
          <a:bodyPr vert="horz" wrap="square" lIns="0" tIns="227965" rIns="0" bIns="0" rtlCol="0">
            <a:spAutoFit/>
          </a:bodyPr>
          <a:lstStyle/>
          <a:p>
            <a:pPr marL="52705">
              <a:spcBef>
                <a:spcPts val="1795"/>
              </a:spcBef>
            </a:pPr>
            <a:r>
              <a:rPr lang="en-US" sz="3150" dirty="0">
                <a:solidFill>
                  <a:schemeClr val="bg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..</a:t>
            </a:r>
            <a:endParaRPr sz="3150" dirty="0">
              <a:solidFill>
                <a:schemeClr val="bg1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</p:spTree>
    <p:extLst>
      <p:ext uri="{BB962C8B-B14F-4D97-AF65-F5344CB8AC3E}">
        <p14:creationId xmlns:p14="http://schemas.microsoft.com/office/powerpoint/2010/main" val="526856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alpha val="80000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535</TotalTime>
  <Words>450</Words>
  <Application>Microsoft Office PowerPoint</Application>
  <PresentationFormat>自訂</PresentationFormat>
  <Paragraphs>156</Paragraphs>
  <Slides>29</Slides>
  <Notes>1</Notes>
  <HiddenSlides>13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5" baseType="lpstr">
      <vt:lpstr>jf open 粉圓 2.1</vt:lpstr>
      <vt:lpstr>Zen Maru Gothic Medium</vt:lpstr>
      <vt:lpstr>Microsoft JhengHei</vt:lpstr>
      <vt:lpstr>Aptos</vt:lpstr>
      <vt:lpstr>Arial</vt:lpstr>
      <vt:lpstr>Office Theme</vt:lpstr>
      <vt:lpstr>同一場雨，世界會怎麼說？</vt:lpstr>
      <vt:lpstr>PowerPoint 簡報</vt:lpstr>
      <vt:lpstr>Background</vt:lpstr>
      <vt:lpstr>英國</vt:lpstr>
      <vt:lpstr>WHY</vt:lpstr>
      <vt:lpstr>現況分析</vt:lpstr>
      <vt:lpstr>核心概念</vt:lpstr>
      <vt:lpstr>俚雨設計</vt:lpstr>
      <vt:lpstr>俚雨設計</vt:lpstr>
      <vt:lpstr>英國</vt:lpstr>
      <vt:lpstr>希臘</vt:lpstr>
      <vt:lpstr>法國</vt:lpstr>
      <vt:lpstr>法國</vt:lpstr>
      <vt:lpstr>瑞典</vt:lpstr>
      <vt:lpstr>葡萄牙</vt:lpstr>
      <vt:lpstr>葡萄牙</vt:lpstr>
      <vt:lpstr>南非</vt:lpstr>
      <vt:lpstr>波蘭</vt:lpstr>
      <vt:lpstr>波蘭</vt:lpstr>
      <vt:lpstr>巴西</vt:lpstr>
      <vt:lpstr>巴西</vt:lpstr>
      <vt:lpstr>動畫視覺方向</vt:lpstr>
      <vt:lpstr>LOGO 設計提案</vt:lpstr>
      <vt:lpstr>互動方式</vt:lpstr>
      <vt:lpstr>展場設計</vt:lpstr>
      <vt:lpstr>設備清單</vt:lpstr>
      <vt:lpstr>技術架構  不是重點</vt:lpstr>
      <vt:lpstr>技術分析</vt:lpstr>
      <vt:lpstr>社群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俚雨</dc:title>
  <dc:creator>Money</dc:creator>
  <cp:keywords>DAHS177zgpw,BAEK68nJlLo</cp:keywords>
  <cp:lastModifiedBy>徐曼玲</cp:lastModifiedBy>
  <cp:revision>8</cp:revision>
  <dcterms:created xsi:type="dcterms:W3CDTF">2026-10-10T06:35:41Z</dcterms:created>
  <dcterms:modified xsi:type="dcterms:W3CDTF">2026-10-13T08:11:14Z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2026-10-10T00:00:00Z</vt:filetime>
  </property>
  <property fmtid="{D5CDD505-2E9C-101B-9397-08002B2CF9AE}" pid="4" name="Creator">
    <vt:lpwstr>Canva</vt:lpwstr>
  </property>
  <property fmtid="{D5CDD505-2E9C-101B-9397-08002B2CF9AE}" pid="5" name="LastSaved">
    <vt:filetime>2026-10-10T00:00:00Z</vt:filetime>
  </property>
  <property fmtid="{D5CDD505-2E9C-101B-9397-08002B2CF9AE}" pid="6" name="Producer">
    <vt:lpwstr>iLovePDF</vt:lpwstr>
  </property>
</Properties>
</file>